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38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32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Four metrics. Stress: the aggregate formula is public and each component has independent meaning. ~60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E1E1E"/>
                </a:solidFill>
                <a:latin typeface="Brawler"/>
              </a:rPr>
              <a:t>Proof of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6B6B"/>
                </a:solidFill>
                <a:latin typeface="General Sans"/>
              </a:rPr>
              <a:t>Bitcoin Risk Quantification for KYT / AML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08960"/>
            <a:ext cx="3200400" cy="4572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General Sans"/>
              </a:rPr>
              <a:t>Overall Approach &amp; Initial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General Sans"/>
              </a:rPr>
              <a:t>Group 3  ·  Crypto Asset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General Sans"/>
              </a:rPr>
              <a:t>Ottitsch Franz Stefan Jakob (12024717)
Arora Aaradhaya (12534787)
Slutu Serhii (12537831)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49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9A"/>
                </a:solidFill>
                <a:latin typeface="General Sans"/>
              </a:rPr>
              <a:t>TU Wien Informatics  ·  Summer 2026</a:t>
            </a:r>
          </a:p>
        </p:txBody>
      </p:sp>
      <p:pic>
        <p:nvPicPr>
          <p:cNvPr id="10" name="Picture 9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615" y="5852160"/>
            <a:ext cx="2560320" cy="4297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  <a:latin typeface="Brawler"/>
              </a:rPr>
              <a:t>Context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General Sans"/>
              </a:rPr>
              <a:t>Why is this problem relevant?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General Sans"/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  <a:latin typeface="General Sans"/>
              </a:rPr>
              <a:t>2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47120" cy="141732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54864" cy="141732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161288"/>
            <a:ext cx="10927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Regulatory requirement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527048"/>
            <a:ext cx="1092708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Cryptoasset service providers must quantify the risk of incoming Bitcoin transactions as part of Know-Your-Transaction (KYT) and Anti-Money Laundering (AML) procedures. A compliance analyst needs to answer: where did these coins come from, and how close are they to known illicit activity?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33472"/>
            <a:ext cx="11247120" cy="141732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633472"/>
            <a:ext cx="54864" cy="1417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743200"/>
            <a:ext cx="10927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The transparency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108960"/>
            <a:ext cx="10927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A3A3A"/>
                </a:solidFill>
                <a:latin typeface="General Sans"/>
              </a:rPr>
              <a:t>Commercial solutions (</a:t>
            </a:r>
            <a:r>
              <a:rPr sz="1100" b="0" i="0" dirty="0" err="1">
                <a:solidFill>
                  <a:srgbClr val="3A3A3A"/>
                </a:solidFill>
                <a:latin typeface="General Sans"/>
              </a:rPr>
              <a:t>Chainalysis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, Elliptic, Crystal) provide risk scores, but their scoring logic is proprietary and unexplainable. An analyst cannot audit why a particular address was flagged </a:t>
            </a:r>
            <a:r>
              <a:rPr lang="en-US" sz="1100" b="0" i="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making regulatory justification difficult.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11247120" cy="141732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54864" cy="141732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4315968"/>
            <a:ext cx="10927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Our 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681728"/>
            <a:ext cx="10927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A3A3A"/>
                </a:solidFill>
                <a:latin typeface="General Sans"/>
              </a:rPr>
              <a:t>Build an open-source, fully reproducible Bitcoin risk-scoring prototype where every score decomposes into auditable, interpretable components. We use the </a:t>
            </a:r>
            <a:r>
              <a:rPr sz="1100" b="0" i="0" dirty="0" err="1">
                <a:solidFill>
                  <a:srgbClr val="3A3A3A"/>
                </a:solidFill>
                <a:latin typeface="General Sans"/>
              </a:rPr>
              <a:t>GraphSense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</a:t>
            </a:r>
            <a:r>
              <a:rPr sz="1100" b="0" i="0" dirty="0" err="1">
                <a:solidFill>
                  <a:srgbClr val="3A3A3A"/>
                </a:solidFill>
                <a:latin typeface="General Sans"/>
              </a:rPr>
              <a:t>TagPack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infrastructure </a:t>
            </a:r>
            <a:r>
              <a:rPr lang="en-US" sz="1100" b="0" i="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an open standard for provenance-aware </a:t>
            </a:r>
            <a:r>
              <a:rPr sz="1100" b="0" i="0" dirty="0" err="1">
                <a:solidFill>
                  <a:srgbClr val="3A3A3A"/>
                </a:solidFill>
                <a:latin typeface="General Sans"/>
              </a:rPr>
              <a:t>cryptoasset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attribution </a:t>
            </a:r>
            <a:r>
              <a:rPr lang="en-US" sz="1100" b="0" i="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as our ground truth.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  <a:latin typeface="Brawler"/>
              </a:rPr>
              <a:t>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General Sans"/>
              </a:rPr>
              <a:t>What do we want to answer?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General Sans"/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  <a:latin typeface="General Sans"/>
              </a:rPr>
              <a:t>3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623560" cy="224028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54864" cy="224028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16128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Q1  ·  Risk Quantification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527048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A3A3A"/>
                </a:solidFill>
                <a:latin typeface="General Sans"/>
              </a:rPr>
              <a:t>How can we quantify the risk of an incoming Bitcoin transaction by its graph distance from known illicit entities </a:t>
            </a:r>
            <a:r>
              <a:rPr lang="en-US" sz="1100" b="0" i="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ransomware operators, darknet markets, exchange hacks?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51560"/>
            <a:ext cx="5623560" cy="224028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051560"/>
            <a:ext cx="54864" cy="224028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116128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Q2  ·  Score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1527048"/>
            <a:ext cx="53035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How do we combine graph proximity, direct value exposure, and multi-hop taint propagation into a single explainable 0–100 aggregate score?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5623560" cy="224028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474720"/>
            <a:ext cx="54864" cy="224028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358444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Q3  ·  Entity Clustering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950208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A3A3A"/>
                </a:solidFill>
                <a:latin typeface="General Sans"/>
              </a:rPr>
              <a:t>How much does grouping addresses into real-world entities </a:t>
            </a:r>
            <a:r>
              <a:rPr lang="en-US" sz="1100" b="0" i="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via co-spend and change-address heuristics </a:t>
            </a:r>
            <a:r>
              <a:rPr lang="en-US" sz="1100" b="0" i="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change the risk landscape compared to raw address-level analysis?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474720"/>
            <a:ext cx="5623560" cy="224028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3474720"/>
            <a:ext cx="54864" cy="224028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358444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Q4  ·  Empirical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950208"/>
            <a:ext cx="53035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Can we validate our scores against external ground truth: OFAC sanctions and Bitcoin addresses from documented criminal cases?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  <a:latin typeface="Brawler"/>
              </a:rPr>
              <a:t>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General Sans"/>
              </a:rPr>
              <a:t>What data do we need and how do we get it?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General Sans"/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  <a:latin typeface="General Sans"/>
              </a:rPr>
              <a:t>4 / 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5156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8F5"/>
                          </a:solidFill>
                          <a:latin typeface="General Sans"/>
                        </a:defRPr>
                      </a:pPr>
                      <a:r>
                        <a:rPr dirty="0"/>
                        <a:t>Source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8F5"/>
                          </a:solidFill>
                          <a:latin typeface="General Sans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8F5"/>
                          </a:solidFill>
                          <a:latin typeface="General Sans"/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8F5"/>
                          </a:solidFill>
                          <a:latin typeface="General Sans"/>
                        </a:defRPr>
                      </a:pPr>
                      <a:r>
                        <a:t>Access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  <a:latin typeface="General Sans"/>
                        </a:defRPr>
                      </a:pPr>
                      <a:r>
                        <a:t>GraphSense TagPacks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Open address labels: ransomware, darknet markets, scams, hacks, exchanges (~46K addresses)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YAML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Free / GitHub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  <a:latin typeface="General Sans"/>
                        </a:defRPr>
                      </a:pPr>
                      <a:r>
                        <a:t>Custom TagPacks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Hand-curated from DOJ press releases for specific case studies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YAML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Manual / public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  <a:latin typeface="General Sans"/>
                        </a:defRPr>
                      </a:pPr>
                      <a:r>
                        <a:t>mempool.space API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rPr dirty="0"/>
                        <a:t>Public blockchain explorer </a:t>
                      </a:r>
                      <a:r>
                        <a:rPr lang="en-US" dirty="0"/>
                        <a:t>-</a:t>
                      </a:r>
                      <a:r>
                        <a:rPr dirty="0"/>
                        <a:t> provides full transaction data for </a:t>
                      </a:r>
                      <a:r>
                        <a:rPr dirty="0" err="1"/>
                        <a:t>neighbourhood</a:t>
                      </a:r>
                      <a:r>
                        <a:rPr dirty="0"/>
                        <a:t> crawl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JSON REST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Free / no key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  <a:latin typeface="General Sans"/>
                        </a:defRPr>
                      </a:pPr>
                      <a:r>
                        <a:t>OFAC SDN List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rPr dirty="0"/>
                        <a:t>US Treasury sanctioned cryptocurrency addresses </a:t>
                      </a:r>
                      <a:r>
                        <a:rPr lang="en-US" dirty="0"/>
                        <a:t>-</a:t>
                      </a:r>
                      <a:r>
                        <a:rPr dirty="0"/>
                        <a:t> serves as validation ground truth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TXT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Free / Gov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  <a:latin typeface="General Sans"/>
                        </a:defRPr>
                      </a:pPr>
                      <a:r>
                        <a:t>Ransomwhere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Crowdsourced ransomware payment addresses with family labels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JSON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Free / API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434840"/>
            <a:ext cx="11247120" cy="640080"/>
          </a:xfrm>
          <a:prstGeom prst="rect">
            <a:avLst/>
          </a:prstGeom>
          <a:solidFill>
            <a:srgbClr val="EAF7EF"/>
          </a:solidFill>
          <a:ln w="6350">
            <a:solidFill>
              <a:srgbClr val="34C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498848"/>
            <a:ext cx="10881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28B56"/>
                </a:solidFill>
                <a:latin typeface="General Sans"/>
              </a:rPr>
              <a:t>Design principle:  all data sources are free, require no API keys, and API responses will be cached in SQLite </a:t>
            </a:r>
            <a:r>
              <a:rPr lang="en-US" sz="1100" b="0" i="0" dirty="0">
                <a:solidFill>
                  <a:srgbClr val="228B56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228B56"/>
                </a:solidFill>
                <a:latin typeface="General Sans"/>
              </a:rPr>
              <a:t> making the pipeline fully reproducible offline by anyone.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  <a:latin typeface="Brawler"/>
              </a:rPr>
              <a:t>Analytics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General Sans"/>
              </a:rPr>
              <a:t>How do we want to approach the research 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General Sans"/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  <a:latin typeface="General Sans"/>
              </a:rPr>
              <a:t>5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384048" cy="384048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02412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F8F5"/>
                </a:solidFill>
                <a:latin typeface="General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04241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Label Risk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005840"/>
            <a:ext cx="7863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Parse GraphSense TagPack YAML files to build a labelled set of seed addresses with category tags and severity weights.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93392"/>
            <a:ext cx="11247120" cy="9144"/>
          </a:xfrm>
          <a:prstGeom prst="rect">
            <a:avLst/>
          </a:prstGeom>
          <a:solidFill>
            <a:srgbClr val="E2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084832"/>
            <a:ext cx="384048" cy="384048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10312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F8F5"/>
                </a:solidFill>
                <a:latin typeface="General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12140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Build Transaction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084832"/>
            <a:ext cx="7863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BFS-crawl the transaction neighbourhood of seed addresses via mempool.space. Construct a directed, value-weighted graph where nodes are addresses and edges encode proportional value flow.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72384"/>
            <a:ext cx="11247120" cy="9144"/>
          </a:xfrm>
          <a:prstGeom prst="rect">
            <a:avLst/>
          </a:prstGeom>
          <a:solidFill>
            <a:srgbClr val="E2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163824"/>
            <a:ext cx="384048" cy="384048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18211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F8F5"/>
                </a:solidFill>
                <a:latin typeface="General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20040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Cluster Entities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163824"/>
            <a:ext cx="7863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Apply Union-Find with two standard Bitcoin forensics heuristics (common-input-ownership + change-address detection) to group addresses into real-world entities.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51376"/>
            <a:ext cx="11247120" cy="9144"/>
          </a:xfrm>
          <a:prstGeom prst="rect">
            <a:avLst/>
          </a:prstGeom>
          <a:solidFill>
            <a:srgbClr val="E2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242816"/>
            <a:ext cx="384048" cy="384048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26110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F8F5"/>
                </a:solidFill>
                <a:latin typeface="General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27939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Compute Risk Scores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242816"/>
            <a:ext cx="7863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Calculate four complementary metrics per node: BFS distance, direct exposure, haircut taint propagation, and a weighted 0–100 aggregate. Each component is independently interpretable.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30368"/>
            <a:ext cx="11247120" cy="9144"/>
          </a:xfrm>
          <a:prstGeom prst="rect">
            <a:avLst/>
          </a:prstGeom>
          <a:solidFill>
            <a:srgbClr val="E2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5321808"/>
            <a:ext cx="384048" cy="384048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34009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F8F5"/>
                </a:solidFill>
                <a:latin typeface="General San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35838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Validate &amp; Analyze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321808"/>
            <a:ext cx="7863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Evaluate scores against OFAC sanctions and documented criminal case addresses. Analyze score distributions and taint decay patterns to answer our research questions.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  <a:latin typeface="Brawler"/>
              </a:rPr>
              <a:t>Risk Scoring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B6B6B"/>
                </a:solidFill>
                <a:latin typeface="General Sans"/>
              </a:rPr>
              <a:t>Four complementary metrics </a:t>
            </a:r>
            <a:r>
              <a:rPr lang="en-US" sz="1100" b="0" i="0" dirty="0">
                <a:solidFill>
                  <a:srgbClr val="6B6B6B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6B6B6B"/>
                </a:solidFill>
                <a:latin typeface="General Sans"/>
              </a:rPr>
              <a:t> each independently interpretable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General Sans"/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  <a:latin typeface="General Sans"/>
              </a:rPr>
              <a:t>6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623560" cy="224028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54864" cy="224028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161288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BFS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2704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Multi-source BFS from all tainted seeds. Each node receives the shortest hop-count to its nearest illicit predecessor.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87752"/>
            <a:ext cx="5257800" cy="9144"/>
          </a:xfrm>
          <a:prstGeom prst="rect">
            <a:avLst/>
          </a:prstGeom>
          <a:solidFill>
            <a:srgbClr val="E2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679192"/>
            <a:ext cx="5349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6B6B6B"/>
                </a:solidFill>
                <a:latin typeface="General Sans"/>
              </a:rPr>
              <a:t>Proximity signal </a:t>
            </a:r>
            <a:r>
              <a:rPr lang="en-US" sz="1000" b="0" i="1" dirty="0">
                <a:solidFill>
                  <a:srgbClr val="6B6B6B"/>
                </a:solidFill>
                <a:latin typeface="General Sans"/>
              </a:rPr>
              <a:t>-</a:t>
            </a:r>
            <a:r>
              <a:rPr sz="1000" b="0" i="1" dirty="0">
                <a:solidFill>
                  <a:srgbClr val="6B6B6B"/>
                </a:solidFill>
                <a:latin typeface="General Sans"/>
              </a:rPr>
              <a:t> fewer hops means more direct association.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051560"/>
            <a:ext cx="5623560" cy="224028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051560"/>
            <a:ext cx="54864" cy="224028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161288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Direct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52704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Fraction of 1-hop incoming value originating from tainted predecessors. Pure value-flow signal, independent of graph topology.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587752"/>
            <a:ext cx="5257800" cy="9144"/>
          </a:xfrm>
          <a:prstGeom prst="rect">
            <a:avLst/>
          </a:prstGeom>
          <a:solidFill>
            <a:srgbClr val="E2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267919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General Sans"/>
              </a:rPr>
              <a:t>How much incoming money comes directly from illicit sources.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5623560" cy="224028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474720"/>
            <a:ext cx="54864" cy="224028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3584448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Haircut Taint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5020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Multi-hop proportional propagation via sparse-matrix Jacobi iteration. Taint dilutes proportionally at each hop based on value fractions.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010912"/>
            <a:ext cx="5257800" cy="9144"/>
          </a:xfrm>
          <a:prstGeom prst="rect">
            <a:avLst/>
          </a:prstGeom>
          <a:solidFill>
            <a:srgbClr val="E2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10235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General Sans"/>
              </a:rPr>
              <a:t>Captures indirect contamination along extended laundering paths.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474720"/>
            <a:ext cx="5623560" cy="224028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3474720"/>
            <a:ext cx="54864" cy="2240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3584448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Aggregate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95020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Weighted blend:  0.30 × Distance  +  0.30 × Exposure  +  0.40 × Haircut, rescaled to 0–100.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5010912"/>
            <a:ext cx="5257800" cy="9144"/>
          </a:xfrm>
          <a:prstGeom prst="rect">
            <a:avLst/>
          </a:prstGeom>
          <a:solidFill>
            <a:srgbClr val="E2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510235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General Sans"/>
              </a:rPr>
              <a:t>Single actionable score. Designed to be decomposable for compliance audit.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  <a:latin typeface="Brawler"/>
              </a:rPr>
              <a:t>Entity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General Sans"/>
              </a:rPr>
              <a:t>Grouping addresses into real-world actors before scoring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General Sans"/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  <a:latin typeface="General Sans"/>
              </a:rPr>
              <a:t>7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General Sans"/>
              </a:rPr>
              <a:t>Two standard Bitcoin forensics heuristics (Meiklejohn et al. 2013)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394960" cy="192024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4864" cy="192024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527048"/>
            <a:ext cx="5074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H1  ·  Common-Input-Ownership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92808"/>
            <a:ext cx="50749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A3A3A"/>
                </a:solidFill>
                <a:latin typeface="General Sans"/>
              </a:rPr>
              <a:t>All input addresses in the same Bitcoin transaction belong to the same entity. Rationale: spending multiple UTXOs requires holding all corresponding private keys </a:t>
            </a:r>
            <a:r>
              <a:rPr lang="en-US" sz="1100" b="0" i="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a strong indicator of common ownership. This is the most widely used clustering heuristic in blockchain forensics.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5394960" cy="192024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4864" cy="192024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1527048"/>
            <a:ext cx="5074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H2  ·  Change-Address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1892808"/>
            <a:ext cx="50749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A freshly generated, single-use output receiving unspent change is grouped with the spending inputs. Standard wallet software returns leftover value to a new self-controlled address. We detect these and merge them with the input cluster.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11247120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74903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Why this matters for risk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69080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A3A3A"/>
                </a:solidFill>
                <a:latin typeface="General Sans"/>
              </a:rPr>
              <a:t>Without clustering, risk scores apply to individual addresses. But in Bitcoin, a single user may control hundreds of addresses. Clustering consolidates the risk signal </a:t>
            </a:r>
            <a:r>
              <a:rPr lang="en-US" sz="1100" b="0" i="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revealing the true exposure of a real-world entity rather than fragmenting it across unrelated-looking addresses. We plan to measure how much clustering changes the overall risk distribution (our research question Q3).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57800"/>
            <a:ext cx="11247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6B6B6B"/>
                </a:solidFill>
                <a:latin typeface="General Sans"/>
              </a:rPr>
              <a:t>Implementation: Union-Find (disjoint-set) data structure </a:t>
            </a:r>
            <a:r>
              <a:rPr lang="en-US" sz="1000" b="0" i="1" dirty="0">
                <a:solidFill>
                  <a:srgbClr val="6B6B6B"/>
                </a:solidFill>
                <a:latin typeface="General Sans"/>
              </a:rPr>
              <a:t>-</a:t>
            </a:r>
            <a:r>
              <a:rPr sz="1000" b="0" i="1" dirty="0">
                <a:solidFill>
                  <a:srgbClr val="6B6B6B"/>
                </a:solidFill>
                <a:latin typeface="General Sans"/>
              </a:rPr>
              <a:t> near-linear time complexity; scalable to large graphs.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  <a:latin typeface="Brawler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General Sans"/>
              </a:rPr>
              <a:t>How are we going to build this?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General Sans"/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  <a:latin typeface="General Sans"/>
              </a:rPr>
              <a:t>8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3657600" cy="416052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3657600" cy="4572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1704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Data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727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GraphSense TagPack parser with category weights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3969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Bounded BFS crawler with rate limiting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0662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SQLite response cache for reproducibility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735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Entity label aggregation (46K+ addresses)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051560"/>
            <a:ext cx="3657600" cy="416052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43400" y="1051560"/>
            <a:ext cx="3657600" cy="4572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80" y="11704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Algorithm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5727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Union-Find clustering (H1 + H2 heuristics)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3969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Multi-source BFS distance computation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0662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Proportional exposure calculation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2735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Sparse-matrix Jacobi taint propagation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840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Weighted aggregate scoring (0–100)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051560"/>
            <a:ext cx="3657600" cy="416052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1051560"/>
            <a:ext cx="3657600" cy="4572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11704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Output &amp; Validation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5727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Per-address and per-entity risk 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13969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Score distribution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70662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ROC / AUC validation vs. OFAC ground truth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2735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Interactive investigation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840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  <a:latin typeface="General Sans"/>
              </a:rPr>
              <a:t>›  Jupyter notebooks for narrative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492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General Sans"/>
              </a:rPr>
              <a:t>Stack:  Python 3.10+  ·  NumPy / SciPy  ·  NetworkX  ·  Streamlit  ·  pytest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  <a:latin typeface="Brawler"/>
              </a:rPr>
              <a:t>Planned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General Sans"/>
              </a:rPr>
              <a:t>Real criminal cases with publicly known addresses from DOJ filings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General Sans"/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  <a:latin typeface="General Sans"/>
              </a:rPr>
              <a:t>9 / 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51560"/>
          <a:ext cx="1124712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43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8F5"/>
                          </a:solidFill>
                          <a:latin typeface="General Sans"/>
                        </a:defRPr>
                      </a:pPr>
                      <a:r>
                        <a:rPr dirty="0"/>
                        <a:t>Case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8F5"/>
                          </a:solidFill>
                          <a:latin typeface="General Sans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8F5"/>
                          </a:solidFill>
                          <a:latin typeface="General Sans"/>
                        </a:defRPr>
                      </a:pPr>
                      <a:r>
                        <a:t>Incident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AF8F5"/>
                          </a:solidFill>
                          <a:latin typeface="General Sans"/>
                        </a:defRPr>
                      </a:pPr>
                      <a:r>
                        <a:t>Why we chose it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43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  <a:latin typeface="General Sans"/>
                        </a:defRPr>
                      </a:pPr>
                      <a:r>
                        <a:t>WannaCry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2017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rPr dirty="0"/>
                        <a:t>Global ransomware </a:t>
                      </a:r>
                      <a:r>
                        <a:rPr lang="en-US" dirty="0"/>
                        <a:t>-</a:t>
                      </a:r>
                      <a:r>
                        <a:rPr dirty="0"/>
                        <a:t> 200K+ victims in 150 countries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rPr dirty="0"/>
                        <a:t>Isolated wallets, minimal mixing </a:t>
                      </a:r>
                      <a:r>
                        <a:rPr lang="en-US" dirty="0"/>
                        <a:t>-</a:t>
                      </a:r>
                      <a:r>
                        <a:rPr dirty="0"/>
                        <a:t> baseline for scoring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43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  <a:latin typeface="General Sans"/>
                        </a:defRPr>
                      </a:pPr>
                      <a:r>
                        <a:t>Twitter Hack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130 VIP accounts hijacked for a BTC doubling scam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rPr dirty="0"/>
                        <a:t>Aggressive fund consolidation </a:t>
                      </a:r>
                      <a:r>
                        <a:rPr lang="en-US" dirty="0"/>
                        <a:t>-</a:t>
                      </a:r>
                      <a:r>
                        <a:rPr dirty="0"/>
                        <a:t> stresses clustering heuristics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43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  <a:latin typeface="General Sans"/>
                        </a:defRPr>
                      </a:pPr>
                      <a:r>
                        <a:t>Colonial Pipeline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DarkSide ransomware shut US fuel supply for 6 days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rPr dirty="0"/>
                        <a:t>Affiliate model distributes funds </a:t>
                      </a:r>
                      <a:r>
                        <a:rPr lang="en-US" dirty="0"/>
                        <a:t>-</a:t>
                      </a:r>
                      <a:r>
                        <a:rPr dirty="0"/>
                        <a:t> tests label coverage</a:t>
                      </a:r>
                    </a:p>
                  </a:txBody>
                  <a:tcPr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4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  <a:latin typeface="General Sans"/>
                        </a:defRPr>
                      </a:pPr>
                      <a:r>
                        <a:t>Bitfinex Hack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2016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t>119K BTC stolen; largest DOJ crypto seizure in 2022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  <a:latin typeface="General Sans"/>
                        </a:defRPr>
                      </a:pPr>
                      <a:r>
                        <a:rPr dirty="0"/>
                        <a:t>Peel-chain laundering </a:t>
                      </a:r>
                      <a:r>
                        <a:rPr lang="en-US" dirty="0"/>
                        <a:t>-</a:t>
                      </a:r>
                      <a:r>
                        <a:rPr dirty="0"/>
                        <a:t> tests multi-hop taint propagation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Validation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1124712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dirty="0">
                <a:solidFill>
                  <a:srgbClr val="3A3A3A"/>
                </a:solidFill>
                <a:latin typeface="General Sans"/>
              </a:rPr>
              <a:t>ROC / AUC </a:t>
            </a:r>
            <a:r>
              <a:rPr lang="en-US" sz="110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dirty="0">
                <a:solidFill>
                  <a:srgbClr val="3A3A3A"/>
                </a:solidFill>
                <a:latin typeface="General Sans"/>
              </a:rPr>
              <a:t> aggregate score as binary classifier (positives = OFAC-listed or </a:t>
            </a:r>
            <a:r>
              <a:rPr sz="1100" dirty="0" err="1">
                <a:solidFill>
                  <a:srgbClr val="3A3A3A"/>
                </a:solidFill>
                <a:latin typeface="General Sans"/>
              </a:rPr>
              <a:t>TagPack</a:t>
            </a:r>
            <a:r>
              <a:rPr sz="1100" dirty="0">
                <a:solidFill>
                  <a:srgbClr val="3A3A3A"/>
                </a:solidFill>
                <a:latin typeface="General Sans"/>
              </a:rPr>
              <a:t>-labelled addresses)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dirty="0">
                <a:solidFill>
                  <a:srgbClr val="3A3A3A"/>
                </a:solidFill>
                <a:latin typeface="General Sans"/>
              </a:rPr>
              <a:t>Precision / Recall at practical thresholds </a:t>
            </a:r>
            <a:r>
              <a:rPr lang="en-US" sz="110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dirty="0">
                <a:solidFill>
                  <a:srgbClr val="3A3A3A"/>
                </a:solidFill>
                <a:latin typeface="General Sans"/>
              </a:rPr>
              <a:t> does the score rank known-bad addresses above the rest?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dirty="0">
                <a:solidFill>
                  <a:srgbClr val="3A3A3A"/>
                </a:solidFill>
                <a:latin typeface="General Sans"/>
              </a:rPr>
              <a:t>Address-level vs. entity-level comparison </a:t>
            </a:r>
            <a:r>
              <a:rPr lang="en-US" sz="110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dirty="0">
                <a:solidFill>
                  <a:srgbClr val="3A3A3A"/>
                </a:solidFill>
                <a:latin typeface="General Sans"/>
              </a:rPr>
              <a:t> quantify how much clustering changes the risk distribution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  <a:latin typeface="Brawler"/>
              </a:rPr>
              <a:t>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General Sans"/>
              </a:rPr>
              <a:t>What will the project produce?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General Sans"/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  <a:latin typeface="General Sans"/>
              </a:rPr>
              <a:t>10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623560" cy="214884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54864" cy="214884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16128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Reproducible risk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527048"/>
            <a:ext cx="53035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A3A3A"/>
                </a:solidFill>
                <a:latin typeface="General Sans"/>
              </a:rPr>
              <a:t>A Python package that takes any Bitcoin address, crawls its </a:t>
            </a:r>
            <a:r>
              <a:rPr sz="1100" b="0" i="0" dirty="0" err="1">
                <a:solidFill>
                  <a:srgbClr val="3A3A3A"/>
                </a:solidFill>
                <a:latin typeface="General Sans"/>
              </a:rPr>
              <a:t>neighbourhood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, clusters entities, and outputs a scored risk table. Fully reproducible from raw YAML tag files </a:t>
            </a:r>
            <a:r>
              <a:rPr lang="en-US" sz="1100" b="0" i="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no paid services, no API keys.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51560"/>
            <a:ext cx="5623560" cy="214884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051560"/>
            <a:ext cx="54864" cy="214884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116128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Explainable risk scores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1527048"/>
            <a:ext cx="530352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Every score decomposes into distance, direct exposure, and haircut taint. A compliance analyst can inspect exactly which component drives the risk and trace it back to specific graph paths.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83280"/>
            <a:ext cx="5623560" cy="214884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54864" cy="214884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349300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Empirical answers to our research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858768"/>
            <a:ext cx="530352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  <a:latin typeface="General Sans"/>
              </a:rPr>
              <a:t>Quantitative evidence on how risk decays with graph distance, how entity clustering reshapes risk distributions, and whether open-source scoring can match the separation achieved by commercial tools.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383280"/>
            <a:ext cx="5623560" cy="214884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3383280"/>
            <a:ext cx="54864" cy="214884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349300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  <a:latin typeface="Brawler"/>
              </a:rPr>
              <a:t>Validation on real cases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858768"/>
            <a:ext cx="53035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A3A3A"/>
                </a:solidFill>
                <a:latin typeface="General Sans"/>
              </a:rPr>
              <a:t>Documented comparison against OFAC sanctions and DOJ-traced addresses from four high-profile criminal investigations </a:t>
            </a:r>
            <a:r>
              <a:rPr lang="en-US" sz="1100" b="0" i="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b="0" i="0" dirty="0">
                <a:solidFill>
                  <a:srgbClr val="3A3A3A"/>
                </a:solidFill>
                <a:latin typeface="General Sans"/>
              </a:rPr>
              <a:t> not synthetic data, but actual law-enforcement outcomes.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E1E"/>
                </a:solidFill>
                <a:latin typeface="Brawler"/>
              </a:rPr>
              <a:t>Summary &amp; Next Steps</a:t>
            </a:r>
          </a:p>
        </p:txBody>
      </p:sp>
      <p:pic>
        <p:nvPicPr>
          <p:cNvPr id="4" name="Picture 3" descr="tu_wien_infor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495" y="182880"/>
            <a:ext cx="2468880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822960"/>
            <a:ext cx="4114800" cy="18288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What we plan to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  <a:latin typeface="General Sans"/>
              </a:rPr>
              <a:t>End-to-end open-source Bitcoin KYT / AML pipeline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  <a:latin typeface="General Sans"/>
              </a:rPr>
              <a:t>Built on the GraphSense TagPack standard for attribution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  <a:latin typeface="General Sans"/>
              </a:rPr>
              <a:t>Entity clustering via Union-Find (H1 + H2 heuristics)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  <a:latin typeface="General Sans"/>
              </a:rPr>
              <a:t>Explainable 0–100 risk score with three interpretable components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  <a:latin typeface="General Sans"/>
              </a:rPr>
              <a:t>Validated against OFAC and four real DOJ criminal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Work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594360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dirty="0">
                <a:solidFill>
                  <a:srgbClr val="3A3A3A"/>
                </a:solidFill>
                <a:latin typeface="General Sans"/>
              </a:rPr>
              <a:t>Data acquisition &amp; label loading </a:t>
            </a:r>
            <a:r>
              <a:rPr lang="en-US" sz="110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dirty="0">
                <a:solidFill>
                  <a:srgbClr val="3A3A3A"/>
                </a:solidFill>
                <a:latin typeface="General Sans"/>
              </a:rPr>
              <a:t> </a:t>
            </a:r>
            <a:r>
              <a:rPr sz="1100" dirty="0" err="1">
                <a:solidFill>
                  <a:srgbClr val="3A3A3A"/>
                </a:solidFill>
                <a:latin typeface="General Sans"/>
              </a:rPr>
              <a:t>TagPacks</a:t>
            </a:r>
            <a:r>
              <a:rPr sz="1100" dirty="0">
                <a:solidFill>
                  <a:srgbClr val="3A3A3A"/>
                </a:solidFill>
                <a:latin typeface="General Sans"/>
              </a:rPr>
              <a:t>, seeds, BFS crawl setup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dirty="0">
                <a:solidFill>
                  <a:srgbClr val="3A3A3A"/>
                </a:solidFill>
                <a:latin typeface="General Sans"/>
              </a:rPr>
              <a:t>Core metrics implementation </a:t>
            </a:r>
            <a:r>
              <a:rPr lang="en-US" sz="1100" dirty="0">
                <a:solidFill>
                  <a:srgbClr val="3A3A3A"/>
                </a:solidFill>
                <a:latin typeface="General Sans"/>
              </a:rPr>
              <a:t>-</a:t>
            </a:r>
            <a:r>
              <a:rPr sz="1100" dirty="0">
                <a:solidFill>
                  <a:srgbClr val="3A3A3A"/>
                </a:solidFill>
                <a:latin typeface="General Sans"/>
              </a:rPr>
              <a:t> distance, exposure, haircut, aggregate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dirty="0">
                <a:solidFill>
                  <a:srgbClr val="3A3A3A"/>
                </a:solidFill>
                <a:latin typeface="General Sans"/>
              </a:rPr>
              <a:t>Entity clustering &amp; case study pipeline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dirty="0">
                <a:solidFill>
                  <a:srgbClr val="3A3A3A"/>
                </a:solidFill>
                <a:latin typeface="General Sans"/>
              </a:rPr>
              <a:t>Validation, dashboard, notebooks, and final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  <a:latin typeface="Brawler"/>
              </a:rPr>
              <a:t>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371600"/>
            <a:ext cx="4389120" cy="50292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52360" y="142646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  <a:latin typeface="General Sans"/>
              </a:rPr>
              <a:t>Ottitsch Franz Stefan Jakob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16459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General Sans"/>
              </a:rPr>
              <a:t>12024717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965960"/>
            <a:ext cx="4389120" cy="50292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52360" y="202082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  <a:latin typeface="General Sans"/>
              </a:rPr>
              <a:t>Arora Aaradhaya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24028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General Sans"/>
              </a:rPr>
              <a:t>12534787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560320"/>
            <a:ext cx="4389120" cy="502920"/>
          </a:xfrm>
          <a:prstGeom prst="rect">
            <a:avLst/>
          </a:prstGeom>
          <a:solidFill>
            <a:srgbClr val="F7F5F1"/>
          </a:solidFill>
          <a:ln w="6350">
            <a:solidFill>
              <a:srgbClr val="E2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52360" y="261518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  <a:latin typeface="General Sans"/>
              </a:rPr>
              <a:t>Slutu Serhii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8346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General Sans"/>
              </a:rPr>
              <a:t>12537831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11155680" cy="18288"/>
          </a:xfrm>
          <a:prstGeom prst="rect">
            <a:avLst/>
          </a:prstGeom>
          <a:solidFill>
            <a:srgbClr val="E2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623560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1E1E"/>
                </a:solidFill>
                <a:latin typeface="Brawler"/>
              </a:rPr>
              <a:t>Thank you  ·  Questions?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General Sans"/>
              </a:rPr>
              <a:t>Crypto Asset Analytics  ·  TU Wien  ·  2026S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  <a:latin typeface="General Sans"/>
              </a:rPr>
              <a:t>11 / 11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1599</Words>
  <Application>Microsoft Office PowerPoint</Application>
  <PresentationFormat>Widescreen</PresentationFormat>
  <Paragraphs>189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Brawler</vt:lpstr>
      <vt:lpstr>Calibri</vt:lpstr>
      <vt:lpstr>General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Serhii Slutu</dc:creator>
  <cp:keywords/>
  <dc:description>generated using python-pptx</dc:description>
  <cp:lastModifiedBy>Serhii Slutu</cp:lastModifiedBy>
  <cp:revision>2</cp:revision>
  <dcterms:created xsi:type="dcterms:W3CDTF">2013-01-27T09:14:16Z</dcterms:created>
  <dcterms:modified xsi:type="dcterms:W3CDTF">2026-05-04T21:20:32Z</dcterms:modified>
  <cp:category/>
</cp:coreProperties>
</file>