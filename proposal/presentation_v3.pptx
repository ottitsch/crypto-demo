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project name, team, course. ~15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Regulatory context → black-box problem → our open-source explainable approach.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research questions. ~15 s each. ~60 seconds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five data sources. Emphasise reproducibility: no paid services, no API keys, fully open.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Five-stage pipeline. Walk through each stage in one sentence. This slide answers 'analytics approach'. ~75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metrics. Stress: the aggregate formula is public and each component has independent meaning.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heuristics from Meiklejohn 2013 — the foundational paper for Bitcoin forensics. Explain why clustering matters for risk.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Three-layer architecture. Don't read the lists — just name each layer and its purpose. Mention Streamlit dashboard briefly.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case — explain why each case stresses a different pipeline component. ~65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expected deliverables / outcomes. Stress validation against real criminal cases. ~55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summary. Mention timeline. Thank audience, invite questions.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E1E1E"/>
                </a:solidFill>
              </a:rPr>
              <a:t>Proof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</a:rPr>
              <a:t>Bitcoin Risk Quantification for KYT / AML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2004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</a:rPr>
              <a:t>Overall Approach &amp; Initial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</a:rPr>
              <a:t>Group 3  ·  Crypto Asset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Ottitsch Franz Stefan Jakob (12024717)
Arora Aaradhaya (12534787)
Slutu Serhii (12537831)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A9A"/>
                </a:solidFill>
              </a:rPr>
              <a:t>TU Wien Informatics  ·  Summer 2026</a:t>
            </a:r>
          </a:p>
        </p:txBody>
      </p:sp>
      <p:pic>
        <p:nvPicPr>
          <p:cNvPr id="10" name="Picture 9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615" y="5852160"/>
            <a:ext cx="2560320" cy="429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Why is this problem relevant?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Regulatory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10927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Cryptoasset service providers must quantify the risk of incoming Bitcoin transactions as part of Know-Your-Transaction (KYT) and Anti-Money Laundering (AML) procedures. A compliance analyst needs to answer: where did these coins come from, and how close are they to known illicit activity?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1124712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54864" cy="1417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43200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The transparency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08960"/>
            <a:ext cx="10927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Commercial solutions (Chainalysis, Elliptic, Crystal) provide risk scores, but their scoring logic is proprietary and unexplainable. An analyst cannot audit why a particular address was flagged — making regulatory justification difficult.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54864" cy="14173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15968"/>
            <a:ext cx="10927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Our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81728"/>
            <a:ext cx="10927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Build an open-source, fully reproducible Bitcoin risk-scoring prototype where every score decomposes into auditable, interpretable components. We use the GraphSense TagPack infrastructure — an open standard for provenance-aware cryptoasset attribution — as our ground truth.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What do we want to answer?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3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Q1  ·  Risk Quantification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How can we quantify the risk of an incoming Bitcoin transaction by its graph distance from known illicit entities — ransomware operators, darknet markets, exchange hacks?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Q2  ·  Score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How do we combine graph proximity, direct value exposure, and multi-hop taint propagation into a single explainable 0–100 aggregate score?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Q3  ·  Entity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5020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How much does grouping addresses into real-world entities — via co-spend and change-address heuristics — change the risk landscape compared to raw address-level analysis?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47472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584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Q4  ·  Empirical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50208"/>
            <a:ext cx="53035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Can we validate our scores against external ground truth: OFAC sanctions and Bitcoin addresses from documented criminal cases?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What data do we need and how do we get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4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74920"/>
                <a:gridCol w="1143000"/>
                <a:gridCol w="27432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GraphSense TagPacks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Open address labels: ransomware, darknet markets, scams, hacks, exchanges (~46K addresses)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Free / GitHub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Custom TagPacks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Hand-curated from DOJ press releases for specific case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Manual / 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mempool.space API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Public blockchain explorer — provides full transaction data for neighbourhood crawl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JSON REST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Free / no key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OFAC SDN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US Treasury sanctioned cryptocurrency addresses — serves as validation 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Free / Gov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Ransomwhere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Crowdsourced ransomware payment addresses with family labels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Free / API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solidFill>
            <a:srgbClr val="E8FAF0"/>
          </a:solidFill>
          <a:ln w="6350">
            <a:solidFill>
              <a:srgbClr val="34C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988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8B56"/>
                </a:solidFill>
              </a:rPr>
              <a:t>Design principle:  all data sources are free, require no API keys, and API responses will be cached in SQLite — making the pipeline fully reproducible offline by anyone.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Analytics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How do we want to approach the research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5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0424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Label Risk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005840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Parse GraphSense TagPack YAML files to build a labelled set of seed addresses with category tags and severity weights.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124712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84832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214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Build Transaction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84832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BFS-crawl the transaction neighbourhood of seed addresses via mempool.space. Construct a directed, value-weighted graph where nodes are addresses and edges encode proportional value 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2384"/>
            <a:ext cx="1124712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Cluster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63824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Apply Union-Find with two standard Bitcoin forensics heuristics (common-input-ownership + change-address detection) to group addresses into real-world entities.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1124712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611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939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Compute Risk Scores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242816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Calculate four complementary metrics per node: BFS distance, direct exposure, haircut taint propagation, and a weighted 0–100 aggregate. Each component is independently interpretable.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30368"/>
            <a:ext cx="1124712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21808"/>
            <a:ext cx="384048" cy="38404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400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5838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Validate &amp; Analyze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321808"/>
            <a:ext cx="7863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Evaluate scores against OFAC sanctions and documented criminal case addresses. Analyze score distributions and taint decay patterns to answer our research questions.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Risk Scoring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Four complementary metrics — each independently interpretable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6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6128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BFS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Multi-source BFS from all tainted seeds. Each node receives the shortest hop-count to its nearest illicit predecessor.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5257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Proximity signal — fewer hops means more direct association.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5156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6128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Direct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2704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Fraction of 1-hop incoming value originating from tainted predecessors. Pure value-flow signal, independent of graph topology.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87752"/>
            <a:ext cx="5257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How much incoming money comes directly from illicit 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54864" cy="224028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844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Haircut Taint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Multi-hop proportional propagation via sparse-matrix Jacobi iteration. Taint dilutes proportionally at each hop based on value fractions.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10912"/>
            <a:ext cx="5257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02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Captures indirect contamination along extended laundering paths.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474720"/>
            <a:ext cx="5623560" cy="2240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474720"/>
            <a:ext cx="54864" cy="2240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584448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Aggregate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Weighted blend:  0.30 × Distance  +  0.30 × Exposure  +  0.40 × Haircut, rescaled to 0–100.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010912"/>
            <a:ext cx="5257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10235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Single actionable score. Designed to be decomposable for compliance audit.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Entity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Grouping addresses into real-world actors before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</a:rPr>
              <a:t>Two standard Bitcoin forensics heuristics (Meiklejohn et al. 2013)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394960" cy="19202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19202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H1  ·  Common-Input-Ownership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9280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All input addresses in the same Bitcoin transaction belong to the same entity. Rationale: spending multiple UTXOs requires holding all corresponding private keys — a strong indicator of common ownership. This is the most widely used clustering heuristic in blockchain forensics.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394960" cy="19202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4864" cy="19202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H2  ·  Change-Address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92808"/>
            <a:ext cx="5074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A freshly generated, single-use output receiving unspent change is grouped with the spending inputs. Standard wallet software returns leftover value to a new self-controlled address. We detect these and merge them with the input cluster.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1247120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Why this matters for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Without clustering, risk scores apply to individual addresses. But in Bitcoin, a single user may control hundreds of addresses. Clustering consolidates the risk signal — revealing the true exposure of a real-world entity rather than fragmenting it across unrelated-looking addresses. We plan to measure how much clustering changes the overall risk distribution (our research question Q3).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Implementation: Union-Find (disjoint-set) data structure — near-linear time complexity; scalable to large graphs.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How are we going to build this?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8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3657600" cy="41605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GraphSense TagPack parser with category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Bounded BFS crawler with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SQLite response cache for reproducibility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Entity label aggregation (46K+ addresses)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051560"/>
            <a:ext cx="3657600" cy="41605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Algorithm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Union-Find clustering (H1 + H2 heuristics)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Multi-source BFS distance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Proportional exposure calculation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Sparse-matrix Jacobi taint propagation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Weighted aggregate scoring (0–100)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051560"/>
            <a:ext cx="3657600" cy="41605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051560"/>
            <a:ext cx="3657600" cy="4572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170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Output &amp; Validation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Per-address and per-entity risk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39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Score distribution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066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ROC / AUC validation vs. OFAC ground truth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735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Interactive investigation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A3A"/>
                </a:solidFill>
              </a:rPr>
              <a:t>›  Jupyter notebooks for narrative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Stack:  Python 3.10+  ·  NumPy / SciPy  ·  NetworkX  ·  Streamlit  ·  pytest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Planned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Real criminal cases with publicly known addresses from DOJ filings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9 / 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"/>
                <a:gridCol w="3931920"/>
                <a:gridCol w="5120640"/>
              </a:tblGrid>
              <a:tr h="497433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WannaCry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Global ransomware — 200K+ victims in 150 countries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Isolated wallets, minimal mixing — baseline for scoring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Twitter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130 VIP accounts hijacked for a BTC doubling scam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Aggressive fund consolidation — stresses clustering heuristics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43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Colonial Pipeline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DarkSide ransomware shut US fuel supply for 6 days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Affiliate model distributes funds — tests label coverage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974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E1E"/>
                          </a:solidFill>
                        </a:defRPr>
                      </a:pPr>
                      <a:r>
                        <a:t>Bitfinex Hack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119K BTC stolen; largest DOJ crypto seizure in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A3A3A"/>
                          </a:solidFill>
                        </a:defRPr>
                      </a:pPr>
                      <a:r>
                        <a:t>Peel-chain laundering — tests multi-hop taint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Validation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ROC / AUC — aggregate score as binary classifier (positives = OFAC-listed or TagPack-labelled addresses)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Precision / Recall at practical thresholds — does the score rank known-bad addresses above the rest?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Address-level vs. entity-level comparison — quantify how much clustering changes the risk distribution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137160"/>
            <a:ext cx="210312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1E1E"/>
                </a:solidFill>
              </a:rP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What will the project produce?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10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2148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Reproducible risk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52704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A Python package that takes any Bitcoin address, crawls its neighbourhood, clusters entities, and outputs a scored risk table. Fully reproducible from raw YAML tag files — no paid services, no API keys.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5623560" cy="2148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1612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Explainable risk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52704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Every score decomposes into distance, direct exposure, and haircut taint. A compliance analyst can inspect exactly which component drives the risk and trace it back to specific graph paths.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623560" cy="2148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Empirical answers to our research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5876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Quantitative evidence on how risk decays with graph distance, how entity clustering reshapes risk distributions, and whether open-source scoring can match the separation achieved by commercial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83280"/>
            <a:ext cx="5623560" cy="21488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383280"/>
            <a:ext cx="54864" cy="2148840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493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1E"/>
                </a:solidFill>
              </a:rPr>
              <a:t>Validation on real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858768"/>
            <a:ext cx="53035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A3A"/>
                </a:solidFill>
              </a:rPr>
              <a:t>Documented comparison against OFAC sanctions and DOJ-traced addresses from four high-profile criminal investigations — not synthetic data, but actual law-enforcement outcomes.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1E1E"/>
                </a:solidFill>
              </a:rPr>
              <a:t>Summary &amp; Next Steps</a:t>
            </a:r>
          </a:p>
        </p:txBody>
      </p:sp>
      <p:pic>
        <p:nvPicPr>
          <p:cNvPr id="4" name="Picture 3" descr="tu_wien_infor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182880"/>
            <a:ext cx="24688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4114800" cy="18288"/>
          </a:xfrm>
          <a:prstGeom prst="rect">
            <a:avLst/>
          </a:prstGeom>
          <a:solidFill>
            <a:srgbClr val="34C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What we plan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End-to-end open-source Bitcoin KYT / AML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Built on the GraphSense TagPack standard for attribution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Entity clustering via Union-Find (H1 + H2 heuristics)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Explainable 0–100 risk score with three interpretable components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Validated against OFAC and four real DOJ criminal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Work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Data acquisition &amp; label loading — TagPacks, seeds, BFS crawl setup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Core metrics implementation — distance, exposure, haircut, aggregate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Entity clustering &amp; case study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</a:rPr>
              <a:t>Validation, dashboard, notebooks, and final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1E"/>
                </a:solidFill>
              </a:rP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371600"/>
            <a:ext cx="438912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4264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Ottitsch Franz Stefan Jakob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6459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</a:rPr>
              <a:t>12024717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965960"/>
            <a:ext cx="438912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02082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Arora Aaradhaya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2402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</a:rPr>
              <a:t>12534787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560320"/>
            <a:ext cx="438912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61518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1E"/>
                </a:solidFill>
              </a:rPr>
              <a:t>Slutu Serhii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</a:rPr>
              <a:t>12537831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15568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1E"/>
                </a:solidFill>
              </a:rPr>
              <a:t>Thank you  ·  Questions?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</a:rPr>
              <a:t>Crypto Asset Analytics  ·  TU Wien  ·  2026S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9282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A9A9A"/>
                </a:solidFill>
              </a:rPr>
              <a:t>11 / 11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