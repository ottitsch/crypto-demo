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3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Four metrics. Stress: the aggregate formula is public and each component has independent meaning.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E1E1E"/>
                </a:solidFill>
                <a:latin typeface="Brawler"/>
              </a:rPr>
              <a:t>Proof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General Sans"/>
              </a:rPr>
              <a:t>Bitcoin Risk Quantification for KYT / AML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2004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General Sans"/>
              </a:rPr>
              <a:t>Overall Approach &amp; Initial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General Sans"/>
              </a:rPr>
              <a:t>Group 3  ·  Crypto Asset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Ottitsch Franz Stefan Jakob (12024717)
Arora Aaradhaya (12534787)
Slutu Serhii (12537831)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9A"/>
                </a:solidFill>
                <a:latin typeface="General Sans"/>
              </a:rPr>
              <a:t>TU Wien Informatics  ·  Summer 2026</a:t>
            </a:r>
          </a:p>
        </p:txBody>
      </p:sp>
      <p:pic>
        <p:nvPicPr>
          <p:cNvPr id="10" name="Picture 9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852160"/>
            <a:ext cx="2560320" cy="429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Why is this problem relevant?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Regulatory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10927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Cryptoasset service providers must quantify the risk of incoming Bitcoin transactions as part of Know-Your-Transaction (KYT) and Anti-Money Laundering (AML) procedures. A compliance analyst needs to answer: where did these coins come from, and how close are they to known illicit activity?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11247120" cy="14173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54864" cy="1417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743200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The transparency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08960"/>
            <a:ext cx="10927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Commercial solutions (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Chainalysis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, Elliptic, Crystal) provide risk scores, but their scoring logic is proprietary and unexplainable. An analyst cannot audit why a particular address was flagged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making regulatory justification difficult.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4173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54864" cy="14173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315968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Our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81728"/>
            <a:ext cx="10927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Build an open-source, fully reproducible Bitcoin risk-scoring prototype where every score decomposes into auditable, interpretable components. We use the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GraphSense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TagPack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infrastructure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an open standard for provenance-aware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cryptoasset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attribution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as our ground truth.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What do we want to answer?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Q1  ·  Risk Quantification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How can we quantify the risk of an incoming Bitcoin transaction by its graph distance from known illicit entities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ransomware operators, darknet markets, exchange hacks?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Q2  ·  Score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How do we combine graph proximity, direct value exposure, and multi-hop taint propagation into a single explainable 0–100 aggregate score?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Q3  ·  Entity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5020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How much does grouping addresses into real-world entities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via co-spend and change-address heuristics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change the risk landscape compared to raw address-level analysis?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Q4  ·  Empirical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5020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Can we validate our scores against external ground truth: OFAC sanctions and Bitcoin addresses from documented criminal cases?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What data do we need and how do we get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4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rPr dirty="0"/>
                        <a:t>Source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GraphSense TagPacks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Open address labels: ransomware, darknet markets, scams, hacks, exchanges (~46K addresses)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GitHub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Custom TagPacks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Hand-curated from DOJ press releases for specific case studies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Manual / public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mempool.space API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Public blockchain explorer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provides full transaction data for </a:t>
                      </a:r>
                      <a:r>
                        <a:rPr dirty="0" err="1"/>
                        <a:t>neighbourhood</a:t>
                      </a:r>
                      <a:r>
                        <a:rPr dirty="0"/>
                        <a:t> crawl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JSON REST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no key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OFAC SDN List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US Treasury sanctioned cryptocurrency addresses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serves as validation ground truth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TXT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Gov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Ransomwhere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Crowdsourced ransomware payment addresses with family labels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API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solidFill>
            <a:srgbClr val="EAF7EF"/>
          </a:solidFill>
          <a:ln w="6350">
            <a:solidFill>
              <a:srgbClr val="34C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98848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8B56"/>
                </a:solidFill>
                <a:latin typeface="General Sans"/>
              </a:rPr>
              <a:t>Design principle:  all data sources are free, require no API keys, and API responses will be cached in SQLite </a:t>
            </a:r>
            <a:r>
              <a:rPr lang="en-US" sz="1100" b="0" i="0" dirty="0">
                <a:solidFill>
                  <a:srgbClr val="228B56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228B56"/>
                </a:solidFill>
                <a:latin typeface="General Sans"/>
              </a:rPr>
              <a:t> making the pipeline fully reproducible offline by anyone.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Analytics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How do we want to approach the research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5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0424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Label Risk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005840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Parse GraphSense TagPack YAML files to build a labelled set of seed addresses with category tags and severity weights.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214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Build Transaction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84832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BFS-crawl the transaction neighbourhood of seed addresses via mempool.space. Construct a directed, value-weighted graph where nodes are addresses and edges encode proportional value 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2384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Cluster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63824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Apply Union-Find with two standard Bitcoin forensics heuristics (common-input-ownership + change-address detection) to group addresses into real-world entities.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611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939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Compute Risk Scores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242816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Calculate four complementary metrics per node: BFS distance, direct exposure, haircut taint propagation, and a weighted 0–100 aggregate. Each component is independently interpretable.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30368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321808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400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5838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Validate &amp; 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321808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Evaluate scores against OFAC sanctions and documented criminal case addresses. Analyze score distributions and taint decay patterns to answer our research questions.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Risk Scoring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B6B6B"/>
                </a:solidFill>
                <a:latin typeface="General Sans"/>
              </a:rPr>
              <a:t>Four complementary metrics </a:t>
            </a:r>
            <a:r>
              <a:rPr lang="en-US" sz="1100" b="0" i="0" dirty="0">
                <a:solidFill>
                  <a:srgbClr val="6B6B6B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6B6B6B"/>
                </a:solidFill>
                <a:latin typeface="General Sans"/>
              </a:rPr>
              <a:t> each independently interpretable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6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16128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BFS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Multi-source BFS from all tainted seeds. Each node receives the shortest hop-count to its nearest illicit predecessor.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2"/>
            <a:ext cx="5349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B6B6B"/>
                </a:solidFill>
                <a:latin typeface="General Sans"/>
              </a:rPr>
              <a:t>Proximity signal </a:t>
            </a:r>
            <a:r>
              <a:rPr lang="en-US" sz="1000" b="0" i="1" dirty="0">
                <a:solidFill>
                  <a:srgbClr val="6B6B6B"/>
                </a:solidFill>
                <a:latin typeface="General Sans"/>
              </a:rPr>
              <a:t>-</a:t>
            </a:r>
            <a:r>
              <a:rPr sz="1000" b="0" i="1" dirty="0">
                <a:solidFill>
                  <a:srgbClr val="6B6B6B"/>
                </a:solidFill>
                <a:latin typeface="General Sans"/>
              </a:rPr>
              <a:t> fewer hops means more direct association.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16128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Direct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2704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Fraction of 1-hop incoming value originating from tainted predecessors. Pure value-flow signal, independent of graph topology.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8775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How much incoming money comes directly from illicit 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Haircut Taint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Multi-hop proportional propagation via sparse-matrix Jacobi iteration. Taint dilutes proportionally at each hop based on value fractions.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1091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102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Captures indirect contamination along extended laundering paths.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474720"/>
            <a:ext cx="54864" cy="2240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5844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Aggregate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Weighted blend:  0.30 × Distance  +  0.30 × Exposure  +  0.40 × Haircut, rescaled to 0–100.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01091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5102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Single actionable score. Designed to be decomposable for compliance audit.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Entity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Grouping addresses into real-world actors before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General Sans"/>
              </a:rPr>
              <a:t>Two standard Bitcoin forensics heuristics (Meiklejohn et al. 2013)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394960" cy="19202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19202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H1  ·  Common-Input-Ownership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92808"/>
            <a:ext cx="5074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All input addresses in the same Bitcoin transaction belong to the same entity. Rationale: spending multiple UTXOs requires holding all corresponding private keys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 strong indicator of common ownership. This is the most widely used clustering heuristic in blockchain forensics.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394960" cy="19202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4864" cy="19202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H2  ·  Change-Address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9280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A freshly generated, single-use output receiving unspent change is grouped with the spending inputs. Standard wallet software returns leftover value to a new self-controlled address. We detect these and merge them with the input cluster.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1247120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Why this matters for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Without clustering, risk scores apply to individual addresses. But in Bitcoin, a single user may control hundreds of addresses. Clustering consolidates the risk signal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revealing the true exposure of a real-world entity rather than fragmenting it across unrelated-looking addresses. We plan to measure how much clustering changes the overall risk distribution (our research question Q3).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B6B6B"/>
                </a:solidFill>
                <a:latin typeface="General Sans"/>
              </a:rPr>
              <a:t>Implementation: Union-Find (disjoint-set) data structure </a:t>
            </a:r>
            <a:r>
              <a:rPr lang="en-US" sz="1000" b="0" i="1" dirty="0">
                <a:solidFill>
                  <a:srgbClr val="6B6B6B"/>
                </a:solidFill>
                <a:latin typeface="General Sans"/>
              </a:rPr>
              <a:t>-</a:t>
            </a:r>
            <a:r>
              <a:rPr sz="1000" b="0" i="1" dirty="0">
                <a:solidFill>
                  <a:srgbClr val="6B6B6B"/>
                </a:solidFill>
                <a:latin typeface="General Sans"/>
              </a:rPr>
              <a:t> near-linear time complexity; scalable to large graphs.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How are we going to build this?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8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3657600" cy="41605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GraphSense TagPack parser with category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Bounded BFS crawler with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SQLite response cache for reproducibility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Entity label aggregation (46K+ addresses)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051560"/>
            <a:ext cx="3657600" cy="41605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Algorithm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Union-Find clustering (H1 + H2 heuristics)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Multi-source BFS distance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Proportional exposure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Sparse-matrix Jacobi taint propagation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Weighted aggregate scoring (0–100)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051560"/>
            <a:ext cx="3657600" cy="41605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Output &amp; Validation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Per-address and per-entity risk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Score distribution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ROC / AUC validation vs. OFAC ground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Interactive investigation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Jupyter notebooks for narrative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Stack:  Python 3.10+  ·  NumPy / SciPy  ·  NetworkX  ·  Streamlit  ·  pytest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Planned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Real criminal cases with publicly known addresses from DOJ filings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9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rPr dirty="0"/>
                        <a:t>Case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Global ransomware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200K+ victims in 150 countries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Isolated wallets, minimal mixing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baseline for scoring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130 VIP accounts hijacked for a BTC doubling scam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Aggressive fund consolidation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stresses clustering heuristics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Colonial Pipeline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DarkSide ransomware shut US fuel supply for 6 days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Affiliate model distributes funds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tests label coverage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Bitfinex Hack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119K BTC stolen; largest DOJ crypto seizure in 2022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Peel-chain laundering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tests multi-hop taint propagation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Validation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ROC / AUC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aggregate score as binary classifier (positives = OFAC-listed or </a:t>
            </a:r>
            <a:r>
              <a:rPr sz="1100" dirty="0" err="1">
                <a:solidFill>
                  <a:srgbClr val="3A3A3A"/>
                </a:solidFill>
                <a:latin typeface="General Sans"/>
              </a:rPr>
              <a:t>TagPack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-labelled addresses)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Precision / Recall at practical thresholds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does the score rank known-bad addresses above the rest?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Address-level vs. entity-level comparison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quantify how much clustering changes the risk distribution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What will the project produce?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10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Reproducible risk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3035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A Python package that takes any Bitcoin address, crawls its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neighbourhood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, clusters entities, and outputs a scored risk table. Fully reproducible from raw YAML tag files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no paid services, no API keys.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Explainable risk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Every score decomposes into distance, direct exposure, and haircut taint. A compliance analyst can inspect exactly which component drives the risk and trace it back to specific graph paths.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Empirical answers to our research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5876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Quantitative evidence on how risk decays with graph distance, how entity clustering reshapes risk distributions, and whether open-source scoring can match the separation achieved by commercial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8328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38328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493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Validation on real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858768"/>
            <a:ext cx="53035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Documented comparison against OFAC sanctions and DOJ-traced addresses from four high-profile criminal investigations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not synthetic data, but actual law-enforcement outcomes.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Brawler"/>
              </a:rPr>
              <a:t>Summary &amp; Next Steps</a:t>
            </a:r>
          </a:p>
        </p:txBody>
      </p:sp>
      <p:pic>
        <p:nvPicPr>
          <p:cNvPr id="4" name="Picture 3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95" y="182880"/>
            <a:ext cx="24688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4114800" cy="1828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What we plan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End-to-end open-source Bitcoin KYT / AML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Built on the GraphSense TagPack standard for attribution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Entity clustering via Union-Find (H1 + H2 heuristics)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Explainable 0–100 risk score with three interpretable components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Validated against OFAC and four real DOJ criminal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Work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9436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Data acquisition &amp; label loading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</a:t>
            </a:r>
            <a:r>
              <a:rPr sz="1100" dirty="0" err="1">
                <a:solidFill>
                  <a:srgbClr val="3A3A3A"/>
                </a:solidFill>
                <a:latin typeface="General Sans"/>
              </a:rPr>
              <a:t>TagPacks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, seeds, BFS crawl setup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Core metrics implementation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distance, exposure, haircut, aggregate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Entity clustering &amp; case study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Validation, dashboard, notebooks, and final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371600"/>
            <a:ext cx="4389120" cy="5029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4264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General Sans"/>
              </a:rPr>
              <a:t>Ottitsch Franz Stefan Jakob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645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General Sans"/>
              </a:rPr>
              <a:t>12024717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965960"/>
            <a:ext cx="4389120" cy="5029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02082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General Sans"/>
              </a:rPr>
              <a:t>Arora Aaradhaya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240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General Sans"/>
              </a:rPr>
              <a:t>12534787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560320"/>
            <a:ext cx="4389120" cy="5029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61518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General Sans"/>
              </a:rPr>
              <a:t>Slutu Serhii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General Sans"/>
              </a:rPr>
              <a:t>12537831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155680" cy="18288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Brawler"/>
              </a:rPr>
              <a:t>Thank you  ·  Questions?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11 / 11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1599</Words>
  <Application>Microsoft Office PowerPoint</Application>
  <PresentationFormat>Widescreen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Brawler</vt:lpstr>
      <vt:lpstr>Calibri</vt:lpstr>
      <vt:lpstr>General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Serhii Slutu</cp:lastModifiedBy>
  <cp:revision>2</cp:revision>
  <dcterms:created xsi:type="dcterms:W3CDTF">2013-01-27T09:14:16Z</dcterms:created>
  <dcterms:modified xsi:type="dcterms:W3CDTF">2026-05-04T21:17:32Z</dcterms:modified>
  <cp:category/>
</cp:coreProperties>
</file>