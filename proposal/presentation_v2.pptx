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~20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need → black-box problem → our open-source answer. Mention GraphSense explicitly.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Q1–Q4. ~15 s each. Emphasise Q4: validated against real DOJ cases.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reproducibility and the GraphSense connection — Haslhofer created TagPacks.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One sentence per stage. ~75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explainability — each component has clear meaning. Aggregate formula on card 4.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H1/H2 to Meiklejohn 2013 and Kappos 2022 (Haslhofer's paper). Key finding box links theory to observation. ~50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Three-layer architecture: input → algorithm → output. No file names. Focus on what each layer does, not how it's coded. ~55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per case. Why Colonial AUC is lower — not a failure but a ground-truth limitation. ~70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KPI numbers. Then walk three forensic findings. Connect 'peel-chain' to Kappos/Haslhofer's paper. ~65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what was built. Future work explicitly links to Haslhofer's active research (idCLUES, LLM tagging, cross-chain). Strong signal of awareness.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2395728"/>
            <a:ext cx="7315200" cy="3657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Proof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487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8C5D4"/>
                </a:solidFill>
              </a:rPr>
              <a:t>Bitcoin Risk Quantification  ·  KYT / AML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154680"/>
            <a:ext cx="6858000" cy="18288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2918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Group 3  ·  Crypto Asset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7033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Ottitsch Franz Stefan Jakob (12024717)  ·  Arora Aaradhaya (12534787)  ·  Slutu Serhii (12537831)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069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8C5D4"/>
                </a:solidFill>
              </a:rPr>
              <a:t>TU Wien Informatics  ·  2026S</a:t>
            </a:r>
          </a:p>
        </p:txBody>
      </p:sp>
      <p:pic>
        <p:nvPicPr>
          <p:cNvPr id="10" name="Picture 9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735" y="5669280"/>
            <a:ext cx="2834640" cy="47548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28016"/>
            <a:ext cx="2103120" cy="356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91440"/>
            <a:ext cx="94484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94360"/>
            <a:ext cx="9448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Context and motivation for this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C5D4"/>
                </a:solidFill>
              </a:rPr>
              <a:t>Crypto Asset Analytics  ·  TU Wien  ·  2026S   |   2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562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8C5D4"/>
                </a:solidFill>
              </a:rPr>
              <a:t>Proof of Funds — Bitcoin KYT / 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15568"/>
            <a:ext cx="11247120" cy="1609344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15568"/>
            <a:ext cx="82296" cy="16093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070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Regulatory Obligation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91056"/>
            <a:ext cx="10972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117"/>
                </a:solidFill>
              </a:rPr>
              <a:t>Cryptoasset service providers are legally required to screen incoming transactions under AML / KYT frameworks. Non-compliance carries heavy fines and license revocation. The core question: where did these coins come from?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11247120" cy="1609344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82296" cy="16093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Industry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10128"/>
            <a:ext cx="10972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117"/>
                </a:solidFill>
              </a:rPr>
              <a:t>Commercial tools (Chainalysis, Elliptic, Crystal) are closed-source and opaque. Risk scores cannot be audited or explained to a regulator. Compliance teams must trust a black box.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53712"/>
            <a:ext cx="11247120" cy="1609344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53712"/>
            <a:ext cx="82296" cy="160934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451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100"/>
                </a:solidFill>
              </a:rPr>
              <a:t>Research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10972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117"/>
                </a:solidFill>
              </a:rPr>
              <a:t>Build an open-source, explainable risk-scoring pipeline on top of GraphSense TagPacks — the same open infrastructure maintained by Iknaio. Every score must decompose into auditable, interpretable components.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28016"/>
            <a:ext cx="2103120" cy="356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91440"/>
            <a:ext cx="94484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94360"/>
            <a:ext cx="9448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What do we want to answer?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C5D4"/>
                </a:solidFill>
              </a:rPr>
              <a:t>Crypto Asset Analytics  ·  TU Wien  ·  2026S   |   3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562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8C5D4"/>
                </a:solidFill>
              </a:rPr>
              <a:t>Proof of Funds — Bitcoin KYT / 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115568"/>
            <a:ext cx="5742432" cy="2359152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5742432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43584"/>
            <a:ext cx="5513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A62"/>
                </a:solidFill>
              </a:rPr>
              <a:t>Q1  Risk Quantification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82496"/>
            <a:ext cx="548640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117"/>
                </a:solidFill>
              </a:rPr>
              <a:t>How can we quantify the risk of an incoming Bitcoin transaction from its graph distance to known illicit entities — ransomware operators, darknet markets, exchange hacks?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5936" y="1115568"/>
            <a:ext cx="5742432" cy="2359152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5936" y="1115568"/>
            <a:ext cx="5742432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243584"/>
            <a:ext cx="5513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A62"/>
                </a:solidFill>
              </a:rPr>
              <a:t>Q2  Score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682496"/>
            <a:ext cx="548640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117"/>
                </a:solidFill>
              </a:rPr>
              <a:t>How do we combine graph proximity, direct value exposure, and multi-hop haircut taint into a single explainable 0–100 aggregate score?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602736"/>
            <a:ext cx="5742432" cy="2359152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3602736"/>
            <a:ext cx="5742432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30752"/>
            <a:ext cx="5513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A62"/>
                </a:solidFill>
              </a:rPr>
              <a:t>Q3  Entity Clustering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69664"/>
            <a:ext cx="548640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117"/>
                </a:solidFill>
              </a:rPr>
              <a:t>How much does grouping addresses into real-world entities — via co-spend and change-address heuristics — change the risk landscape vs. raw address-level analysis?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3602736"/>
            <a:ext cx="5742432" cy="2359152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45936" y="3602736"/>
            <a:ext cx="5742432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730752"/>
            <a:ext cx="5513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A62"/>
                </a:solidFill>
              </a:rPr>
              <a:t>Q4  Empirical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169664"/>
            <a:ext cx="548640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117"/>
                </a:solidFill>
              </a:rPr>
              <a:t>Do our scores agree with external ground truth: OFAC sanctions lists and Bitcoin addresses from four DOJ-documented criminal cases?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28016"/>
            <a:ext cx="2103120" cy="356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91440"/>
            <a:ext cx="94484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94360"/>
            <a:ext cx="9448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All free, no API keys, fully reproducible offline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C5D4"/>
                </a:solidFill>
              </a:rPr>
              <a:t>Crypto Asset Analytics  ·  TU Wien  ·  2026S   |   4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562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8C5D4"/>
                </a:solidFill>
              </a:rPr>
              <a:t>Proof of Funds — Bitcoin KYT / AML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078992"/>
          <a:ext cx="114300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663440"/>
                <a:gridCol w="1481328"/>
                <a:gridCol w="3090672"/>
              </a:tblGrid>
              <a:tr h="56692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Our use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2A62"/>
                          </a:solidFill>
                        </a:defRPr>
                      </a:pPr>
                      <a:r>
                        <a:t>GraphSense TagPacks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Open address labels curated by Iknaio / AIT — ransomware, darknet markets, hacks, exchanges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~46 000 BTC addrs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Seed taint sources + entity labels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2A62"/>
                          </a:solidFill>
                        </a:defRPr>
                      </a:pPr>
                      <a:r>
                        <a:t>Custom DOJ TagPacks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Hand-curated from DOJ press releases: Twitter Hack 2020, Colonial Pipeline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&lt; 20 addrs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Case-specific ground truth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2A62"/>
                          </a:solidFill>
                        </a:defRPr>
                      </a:pPr>
                      <a:r>
                        <a:t>mempool.space API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Public blockchain explorer — full transaction neighbourhood of seed addresses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Cached / SQLite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BFS graph construction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2A62"/>
                          </a:solidFill>
                        </a:defRPr>
                      </a:pPr>
                      <a:r>
                        <a:t>OFAC SDN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US Treasury sanctioned crypto addresses (pre-extracted by 0xB10C)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81 BTC addrs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Validation ground truth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2A62"/>
                          </a:solidFill>
                        </a:defRPr>
                      </a:pPr>
                      <a:r>
                        <a:t>Ransomwhere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Crowdsourced ransomware payment addresses and family labels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Open / JSON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Supplemental seed labels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84048" y="4645152"/>
            <a:ext cx="11430000" cy="603504"/>
          </a:xfrm>
          <a:prstGeom prst="rect">
            <a:avLst/>
          </a:prstGeom>
          <a:solidFill>
            <a:srgbClr val="E3EDF9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8172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2A62"/>
                </a:solidFill>
              </a:rPr>
              <a:t>We build directly on the GraphSense TagPack infrastructure — the open standard for provenance-aware cryptoasset attribution developed at AIT / Iknaio. Our pipeline is a downstream consumer of the same data model.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28016"/>
            <a:ext cx="2103120" cy="356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91440"/>
            <a:ext cx="94484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94360"/>
            <a:ext cx="9448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End-to-end flow from open label data to validated risk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C5D4"/>
                </a:solidFill>
              </a:rPr>
              <a:t>Crypto Asset Analytics  ·  TU Wien  ·  2026S   |   5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562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8C5D4"/>
                </a:solidFill>
              </a:rPr>
              <a:t>Proof of Funds — Bitcoin KYT / AML</a:t>
            </a:r>
          </a:p>
        </p:txBody>
      </p:sp>
      <p:pic>
        <p:nvPicPr>
          <p:cNvPr id="9" name="Picture 8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11247120" cy="46817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28016"/>
            <a:ext cx="2103120" cy="356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91440"/>
            <a:ext cx="94484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Risk Scoring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94360"/>
            <a:ext cx="9448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Four complementary metrics — each independently interpretable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C5D4"/>
                </a:solidFill>
              </a:rPr>
              <a:t>Crypto Asset Analytics  ·  TU Wien  ·  2026S   |   6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562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8C5D4"/>
                </a:solidFill>
              </a:rPr>
              <a:t>Proof of Funds — Bitcoin KYT / 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078992"/>
            <a:ext cx="5742432" cy="2432304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73152" cy="243230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A62"/>
                </a:solidFill>
              </a:rPr>
              <a:t>BFS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81912"/>
            <a:ext cx="5468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117"/>
                </a:solidFill>
              </a:rPr>
              <a:t>Multi-source BFS from all tagged seed addresses. Assigns each node the shortest hop-count to its nearest tainted predecessor.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542032"/>
            <a:ext cx="5394960" cy="18288"/>
          </a:xfrm>
          <a:prstGeom prst="rect">
            <a:avLst/>
          </a:prstGeom>
          <a:solidFill>
            <a:srgbClr val="CF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33472"/>
            <a:ext cx="54681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87A"/>
                </a:solidFill>
              </a:rPr>
              <a:t>Proximity signal — fewer hops = more direct association with illicit activity.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5936" y="1078992"/>
            <a:ext cx="5742432" cy="2432304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5936" y="1078992"/>
            <a:ext cx="73152" cy="243230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A62"/>
                </a:solidFill>
              </a:rPr>
              <a:t>Direct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1581912"/>
            <a:ext cx="5468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117"/>
                </a:solidFill>
              </a:rPr>
              <a:t>Fraction of 1-hop incoming transaction value originating from tainted predecessors. Pure value-flow signal, independent of graph topology.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2542032"/>
            <a:ext cx="5394960" cy="18288"/>
          </a:xfrm>
          <a:prstGeom prst="rect">
            <a:avLst/>
          </a:prstGeom>
          <a:solidFill>
            <a:srgbClr val="CF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2633472"/>
            <a:ext cx="54681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87A"/>
                </a:solidFill>
              </a:rPr>
              <a:t>Quantifies how much of an address's incoming funds come directly from bad actors.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657600"/>
            <a:ext cx="5742432" cy="2432304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3657600"/>
            <a:ext cx="73152" cy="243230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749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A62"/>
                </a:solidFill>
              </a:rPr>
              <a:t>Haircut Taint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60520"/>
            <a:ext cx="5468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117"/>
                </a:solidFill>
              </a:rPr>
              <a:t>Multi-hop proportional taint propagation via sparse-matrix Jacobi fixed-point iteration. Taint dilutes proportionally at each hop.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120640"/>
            <a:ext cx="5394960" cy="18288"/>
          </a:xfrm>
          <a:prstGeom prst="rect">
            <a:avLst/>
          </a:prstGeom>
          <a:solidFill>
            <a:srgbClr val="CF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212080"/>
            <a:ext cx="54681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87A"/>
                </a:solidFill>
              </a:rPr>
              <a:t>Captures indirect contamination — addresses far from seeds but on laundering paths.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5936" y="3657600"/>
            <a:ext cx="5742432" cy="2432304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5936" y="3657600"/>
            <a:ext cx="73152" cy="243230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749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A62"/>
                </a:solidFill>
              </a:rPr>
              <a:t>Aggregate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4160520"/>
            <a:ext cx="5468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117"/>
                </a:solidFill>
              </a:rPr>
              <a:t>Weighted blend:  0.30 × Distance  +  0.30 × Exposure  +  0.40 × Haircut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5120640"/>
            <a:ext cx="5394960" cy="18288"/>
          </a:xfrm>
          <a:prstGeom prst="rect">
            <a:avLst/>
          </a:prstGeom>
          <a:solidFill>
            <a:srgbClr val="CF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8816" y="5212080"/>
            <a:ext cx="54681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87A"/>
                </a:solidFill>
              </a:rPr>
              <a:t>Scaled to 0–100. Designed to be decomposable — a compliance analyst can inspect each component.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28016"/>
            <a:ext cx="2103120" cy="356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91440"/>
            <a:ext cx="94484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Entity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94360"/>
            <a:ext cx="9448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Grouping addresses into real-world actors before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C5D4"/>
                </a:solidFill>
              </a:rPr>
              <a:t>Crypto Asset Analytics  ·  TU Wien  ·  2026S   |   7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562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8C5D4"/>
                </a:solidFill>
              </a:rPr>
              <a:t>Proof of Funds — Bitcoin KYT / 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115568"/>
            <a:ext cx="3200400" cy="256032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133856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BITCOIN FORENSICS HEURISTICS  (MEIKLEJOHN ET AL. 2013)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481328"/>
            <a:ext cx="5989320" cy="1783080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481328"/>
            <a:ext cx="82296" cy="1783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H1  Common-Input-Ownership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956816"/>
            <a:ext cx="5715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117"/>
                </a:solidFill>
              </a:rPr>
              <a:t>All input addresses in a transaction share the same controlling entity. Spending multiple UTXOs requires all corresponding private keys — a strong indicator of common ownership.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419856"/>
            <a:ext cx="5989320" cy="1783080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419856"/>
            <a:ext cx="82296" cy="1783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511296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H2  Change-Address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95344"/>
            <a:ext cx="5715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117"/>
                </a:solidFill>
              </a:rPr>
              <a:t>A freshly generated, single-use output receiving unspent change is grouped with the spending inputs. Standard wallet behaviour returns leftover value to a new self-controlled address.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492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87A"/>
                </a:solidFill>
              </a:rPr>
              <a:t>Implementation: Union-Find (disjoint-set) — O(n · α(n)) amortised.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56832" y="1115568"/>
            <a:ext cx="5120640" cy="256032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13385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MEASURED IMPACT ON 4 CASE STUDIES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656832" y="1481328"/>
          <a:ext cx="5166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1005840"/>
                <a:gridCol w="1005840"/>
                <a:gridCol w="932688"/>
                <a:gridCol w="868680"/>
              </a:tblGrid>
              <a:tr h="48463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Addresses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Entities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Reduction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Risk shift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2A62"/>
                          </a:solidFill>
                        </a:defRPr>
                      </a:pPr>
                      <a:r>
                        <a:t>WannaCry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426 535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336 715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21 %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2A62"/>
                          </a:solidFill>
                        </a:defRPr>
                      </a:pPr>
                      <a:r>
                        <a:t>Twitter Hack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7 941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2 311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71 %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+0.08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2A62"/>
                          </a:solidFill>
                        </a:defRPr>
                      </a:pPr>
                      <a:r>
                        <a:t>Colonial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6 585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4 229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36 %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+0.02 mean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2A62"/>
                          </a:solidFill>
                        </a:defRPr>
                      </a:pPr>
                      <a:r>
                        <a:t>Bitfinex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539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11 %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Negligible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6656832" y="4041648"/>
            <a:ext cx="5166360" cy="1325880"/>
          </a:xfrm>
          <a:prstGeom prst="rect">
            <a:avLst/>
          </a:prstGeom>
          <a:solidFill>
            <a:srgbClr val="E3EDF9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56832" y="4041648"/>
            <a:ext cx="516636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4133087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A62"/>
                </a:solidFill>
              </a:rPr>
              <a:t>Key finding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425696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117"/>
                </a:solidFill>
              </a:rPr>
              <a:t>Clustering effectiveness depends on laundering strategy. Aggressive consolidation (Twitter Hack: 71 % reduction) concentrates risk. Peel-chain laundering (Bitfinex: 11 %) evades co-spend heuristics — consistent with Kappos et al. (USENIX '22).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28016"/>
            <a:ext cx="2103120" cy="356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91440"/>
            <a:ext cx="94484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Implementation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94360"/>
            <a:ext cx="9448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Conceptual overview of the system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C5D4"/>
                </a:solidFill>
              </a:rPr>
              <a:t>Crypto Asset Analytics  ·  TU Wien  ·  2026S   |   8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562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8C5D4"/>
                </a:solidFill>
              </a:rPr>
              <a:t>Proof of Funds — Bitcoin KYT / 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078992"/>
            <a:ext cx="3474720" cy="5102352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347472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078992"/>
            <a:ext cx="3474720" cy="5102352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078992"/>
            <a:ext cx="347472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078992"/>
            <a:ext cx="3474720" cy="5102352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6448" y="1078992"/>
            <a:ext cx="347472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18872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A62"/>
                </a:solidFill>
              </a:rPr>
              <a:t>INPUT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6304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687A"/>
                </a:solidFill>
              </a:rPr>
              <a:t>Open data sources → labelled seeds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18872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A62"/>
                </a:solidFill>
              </a:rPr>
              <a:t>CORE ALGORITHMS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46304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687A"/>
                </a:solidFill>
              </a:rPr>
              <a:t>Graph construction · clustering ·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18872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A62"/>
                </a:solidFill>
              </a:rPr>
              <a:t>OUTPUT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46304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687A"/>
                </a:solidFill>
              </a:rPr>
              <a:t>Scored entities · validation · reporting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47088"/>
            <a:ext cx="3145536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A62"/>
                </a:solidFill>
              </a:rPr>
              <a:t>TagPack Label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304288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117"/>
                </a:solidFill>
              </a:rPr>
              <a:t>GraphSense YAML TagPacks parsed into an in-memory label dictionary. Supports category weights (ransomware &gt; darknet &gt; scam &gt; service).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58768"/>
            <a:ext cx="3145536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502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A62"/>
                </a:solidFill>
              </a:rPr>
              <a:t>Transaction Graph 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315968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117"/>
                </a:solidFill>
              </a:rPr>
              <a:t>BFS crawl via public REST API. Nodes = addresses; directed edges = proportional value flow. Responses cached permanently in SQLite.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1847088"/>
            <a:ext cx="3145536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A62"/>
                </a:solidFill>
              </a:rPr>
              <a:t>Entity Clustering  (Union-Find)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304288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117"/>
                </a:solidFill>
              </a:rPr>
              <a:t>H1: co-spend ownership. H2: change-address detection. Cluster graph re-indexed before scoring.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858768"/>
            <a:ext cx="3145536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9502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A62"/>
                </a:solidFill>
              </a:rPr>
              <a:t>Risk Metric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315968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117"/>
                </a:solidFill>
              </a:rPr>
              <a:t>Stage 1: multi-source BFS → distance map. Stage 2: 1-hop value fractions → exposure vector. Stage 3: sparse Jacobi iteration → haircut taint. Stage 4: weighted blend → 0–100 score.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1847088"/>
            <a:ext cx="3145536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A62"/>
                </a:solidFill>
              </a:rPr>
              <a:t>Risk Score 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304288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117"/>
                </a:solidFill>
              </a:rPr>
              <a:t>Per-address and per-entity Parquet table: distance · exposure · haircut · aggregate score · category label.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858768"/>
            <a:ext cx="3145536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39502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A62"/>
                </a:solidFill>
              </a:rPr>
              <a:t>Validation &amp; Reporting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315968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117"/>
                </a:solidFill>
              </a:rPr>
              <a:t>ROC / AUC against OFAC + TagPack ground truth. Interactive Streamlit dashboard. Jupyter notebooks + LaTeX report.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28016"/>
            <a:ext cx="2103120" cy="356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91440"/>
            <a:ext cx="94484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Forensic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94360"/>
            <a:ext cx="9448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Four real criminal investigations — addresses sourced from DOJ filings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C5D4"/>
                </a:solidFill>
              </a:rPr>
              <a:t>Crypto Asset Analytics  ·  TU Wien  ·  2026S   |   9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562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8C5D4"/>
                </a:solidFill>
              </a:rPr>
              <a:t>Proof of Funds — Bitcoin KYT / AML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078992"/>
          <a:ext cx="11430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530352"/>
                <a:gridCol w="3474720"/>
                <a:gridCol w="749808"/>
                <a:gridCol w="1325880"/>
                <a:gridCol w="1325880"/>
                <a:gridCol w="2450592"/>
              </a:tblGrid>
              <a:tr h="5760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Incident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Seed</a:t>
                      </a:r>
                    </a:p>
                    <a:p>
                      <a:r>
                        <a:t>addresses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Graph size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Clustering</a:t>
                      </a:r>
                    </a:p>
                    <a:p>
                      <a:r>
                        <a:t>reduction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Validation</a:t>
                      </a:r>
                    </a:p>
                    <a:p>
                      <a:r>
                        <a:t>AUC</a:t>
                      </a:r>
                    </a:p>
                  </a:txBody>
                  <a:tcPr>
                    <a:solidFill>
                      <a:srgbClr val="0A2A62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2A62"/>
                          </a:solidFill>
                        </a:defRPr>
                      </a:pPr>
                      <a:r>
                        <a:t>WannaCry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Global ransomware — 200 000+ victims, ~$140 K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426 535 addrs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21 %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2A62"/>
                          </a:solidFill>
                        </a:defRPr>
                      </a:pPr>
                      <a:r>
                        <a:t>Twitter Hack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VIP account hijack → BTC doubling scam, ~$117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7 941 addrs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71 %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2A62"/>
                          </a:solidFill>
                        </a:defRPr>
                      </a:pPr>
                      <a:r>
                        <a:t>Colonial Pipeline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DarkSide ransomware — US fuel supply disrupted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6 585 addrs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36 %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0.750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2A62"/>
                          </a:solidFill>
                        </a:defRPr>
                      </a:pPr>
                      <a:r>
                        <a:t>Bitfinex Hack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119 756 BTC stolen; $3.6 B DOJ seizure 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607 addrs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11 %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1117"/>
                          </a:solidFill>
                        </a:defRPr>
                      </a:pPr>
                      <a:r>
                        <a:t>0.971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40690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2A62"/>
                </a:solidFill>
              </a:rPr>
              <a:t>AUC = 1.0 on WannaCry and Twitter Hack — all known-bad addresses score above all benign addresses, with zero false negatives at threshold 50.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49884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87A"/>
                </a:solidFill>
              </a:rPr>
              <a:t>AUC = 0.75 on Colonial Pipeline reflects the DarkSide affiliate model distributing ransom across many wallets — a single DOJ-tagged address is insufficient ground truth.</a:t>
            </a:r>
          </a:p>
        </p:txBody>
      </p:sp>
      <p:pic>
        <p:nvPicPr>
          <p:cNvPr id="12" name="Picture 11" descr="fig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931920"/>
            <a:ext cx="3474720" cy="2331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28016"/>
            <a:ext cx="2103120" cy="356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91440"/>
            <a:ext cx="94484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94360"/>
            <a:ext cx="9448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What the pipeline reveals about Bitcoin risk and laundering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C5D4"/>
                </a:solidFill>
              </a:rPr>
              <a:t>Crypto Asset Analytics  ·  TU Wien  ·  2026S   |   10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562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8C5D4"/>
                </a:solidFill>
              </a:rPr>
              <a:t>Proof of Funds — Bitcoin KYT / 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078992"/>
            <a:ext cx="2743200" cy="1005840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27432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170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5100"/>
                </a:solidFill>
              </a:rPr>
              <a:t>441 668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16093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addresses
scored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17922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687A"/>
                </a:solidFill>
              </a:rPr>
              <a:t>across 4 DOJ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1078992"/>
            <a:ext cx="2743200" cy="1005840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1078992"/>
            <a:ext cx="27432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170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565C0"/>
                </a:solidFill>
              </a:rPr>
              <a:t>AUC 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16093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perfect separation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17922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687A"/>
                </a:solidFill>
              </a:rPr>
              <a:t>WannaCry &amp; Twitter Hack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1078992"/>
            <a:ext cx="2743200" cy="1005840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1078992"/>
            <a:ext cx="27432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170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565C0"/>
                </a:solidFill>
              </a:rPr>
              <a:t>71 %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16093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node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17922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687A"/>
                </a:solidFill>
              </a:rPr>
              <a:t>Twitter Hack clustering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9448" y="1078992"/>
            <a:ext cx="2743200" cy="1005840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99448" y="1078992"/>
            <a:ext cx="27432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1170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565C0"/>
                </a:solidFill>
              </a:rPr>
              <a:t>0–100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16093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explainable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17922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687A"/>
                </a:solidFill>
              </a:rPr>
              <a:t>3 decomposable components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2267712"/>
            <a:ext cx="11430000" cy="1280160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2267712"/>
            <a:ext cx="82296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23591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Risk decay is rapid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7432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117"/>
                </a:solidFill>
              </a:rPr>
              <a:t>Mean score drops to near-zero within 2–3 hops from tainted sources in all cases. Maximum scores, however, remain elevated at larger distances in the Bitfinex case — consistent with known peel-chain laundering behaviour that preserves taint signal along extended transaction chains.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3657600"/>
            <a:ext cx="11430000" cy="1280160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3657600"/>
            <a:ext cx="82296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7490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Clustering is laundering-strategy dependent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13308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117"/>
                </a:solidFill>
              </a:rPr>
              <a:t>Co-spend heuristics reduce the node set by 11–71 % and concentrate risk in 3/4 cases. The exception — Bitfinex — uses separate wallets per transaction hop, deliberately avoiding co-spending. This matches findings in 'How to Peel a Million' (Kappos et al., USENIX Sec '22).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047488"/>
            <a:ext cx="11430000" cy="1280160"/>
          </a:xfrm>
          <a:prstGeom prst="rect">
            <a:avLst/>
          </a:prstGeom>
          <a:solidFill>
            <a:srgbClr val="E8F1FB"/>
          </a:solidFill>
          <a:ln w="9525">
            <a:solidFill>
              <a:srgbClr val="CF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" y="5047488"/>
            <a:ext cx="82296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51389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Open-source reproduces industry-grade 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52297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117"/>
                </a:solidFill>
              </a:rPr>
              <a:t>At threshold 50, the system achieves recall = 1.0 on WannaCry, Twitter Hack, and Bitfinex — every known-bad address is flagged. Precision varies (0.29–0.60) because the pipeline correctly flags neighbouring addresses that may be under investigation but lack public labels.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Conclusions &amp; 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7772400" cy="3657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128016"/>
            <a:ext cx="2743200" cy="4663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3657600" cy="256032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241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End-to-end open-source KYT / AML pipeline on GraphSense TagPacks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Entity clustering via Union-Find (H1 + H2 heuristics)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Explainable 0–100 risk score with 3 interpretable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408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Validated on 4 real DOJ cases — AUC up to 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441 668 addresses scored; taint decay and cluster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3657600" cy="256032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17296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SCOPE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930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4"/>
                </a:solidFill>
              </a:rPr>
              <a:t>—  Bounded BFS — may miss distant taint paths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94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4"/>
                </a:solidFill>
              </a:rPr>
              <a:t>—  Bitcoin only — no cross-chain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96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4"/>
                </a:solidFill>
              </a:rPr>
              <a:t>—  Metric weights are illustrative, not calibrated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982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4"/>
                </a:solidFill>
              </a:rPr>
              <a:t>—  CoinJoin / mixing not detected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005840"/>
            <a:ext cx="5669280" cy="256032"/>
          </a:xfrm>
          <a:prstGeom prst="rect">
            <a:avLst/>
          </a:prstGeom>
          <a:solidFill>
            <a:srgbClr val="0A2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102412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FUTURE DIRECTIONS  (ALIGNED WITH ONGOING RESEARCH)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353312"/>
            <a:ext cx="5760720" cy="1188720"/>
          </a:xfrm>
          <a:prstGeom prst="rect">
            <a:avLst/>
          </a:prstGeom>
          <a:solidFill>
            <a:srgbClr val="0D2A5A"/>
          </a:solidFill>
          <a:ln w="9525">
            <a:solidFill>
              <a:srgbClr val="1E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1353312"/>
            <a:ext cx="64008" cy="1188720"/>
          </a:xfrm>
          <a:prstGeom prst="rect">
            <a:avLst/>
          </a:prstGeom>
          <a:solidFill>
            <a:srgbClr val="42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42646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8ED1"/>
                </a:solidFill>
              </a:rPr>
              <a:t>Cross-chain taint propagation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7556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Extend beyond Bitcoin to Ethereum and Tron — directly relevant to Iknaio Pathfinder's multi-network tracing.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2651760"/>
            <a:ext cx="5760720" cy="1188720"/>
          </a:xfrm>
          <a:prstGeom prst="rect">
            <a:avLst/>
          </a:prstGeom>
          <a:solidFill>
            <a:srgbClr val="0D2A5A"/>
          </a:solidFill>
          <a:ln w="9525">
            <a:solidFill>
              <a:srgbClr val="1E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2651760"/>
            <a:ext cx="64008" cy="1188720"/>
          </a:xfrm>
          <a:prstGeom prst="rect">
            <a:avLst/>
          </a:prstGeom>
          <a:solidFill>
            <a:srgbClr val="42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7249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8ED1"/>
                </a:solidFill>
              </a:rPr>
              <a:t>LLM-based tag enrichment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05409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Automate label discovery via entity disambiguation (cf. Avice, Haslhofer et al., FC 2026).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3950208"/>
            <a:ext cx="5760720" cy="1188720"/>
          </a:xfrm>
          <a:prstGeom prst="rect">
            <a:avLst/>
          </a:prstGeom>
          <a:solidFill>
            <a:srgbClr val="0D2A5A"/>
          </a:solidFill>
          <a:ln w="9525">
            <a:solidFill>
              <a:srgbClr val="1E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3950208"/>
            <a:ext cx="64008" cy="1188720"/>
          </a:xfrm>
          <a:prstGeom prst="rect">
            <a:avLst/>
          </a:prstGeom>
          <a:solidFill>
            <a:srgbClr val="42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0233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8ED1"/>
                </a:solidFill>
              </a:rPr>
              <a:t>Complex laundering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35254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Detect layering through DEXs and bridges — core scope of the idCLUES project (FFG, 2026).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5248656"/>
            <a:ext cx="5760720" cy="1188720"/>
          </a:xfrm>
          <a:prstGeom prst="rect">
            <a:avLst/>
          </a:prstGeom>
          <a:solidFill>
            <a:srgbClr val="0D2A5A"/>
          </a:solidFill>
          <a:ln w="9525">
            <a:solidFill>
              <a:srgbClr val="1E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5248656"/>
            <a:ext cx="64008" cy="1188720"/>
          </a:xfrm>
          <a:prstGeom prst="rect">
            <a:avLst/>
          </a:prstGeom>
          <a:solidFill>
            <a:srgbClr val="42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53218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8ED1"/>
                </a:solidFill>
              </a:rPr>
              <a:t>Temporal risk decay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65099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4"/>
                </a:solidFill>
              </a:rPr>
              <a:t>Model how risk scores should decay as transaction age increases — static snapshots miss time-sensitive AML signals.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053328"/>
            <a:ext cx="1124712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163056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Thank you  ·  Questions?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C5D4"/>
                </a:solidFill>
              </a:rPr>
              <a:t>Crypto Asset Analytics  ·  TU Wien  ·  2026S   |   11 / 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4095" y="65562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8C5D4"/>
                </a:solidFill>
              </a:rPr>
              <a:t>Proof of Funds — Bitcoin KYT / AML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