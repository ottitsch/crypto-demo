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10-minute overview of our Proof-of-Funds prototype for Bitcoin KYT/AML compliance.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compliance need, the opaque commercial tools, and our explainable open-source approach.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research questions — spend ~15 s on each. Emphasise Q4: validated against real DOJ cases, not synthetic data.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five sources. Emphasise: no paid subscriptions, no API keys, SQLite cache makes it reproducible. ~75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left to right, one sentence per stage. This slide has the architecture figure from the report. ~75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metrics. Key message: the aggregate formula is public and decomposable — each component has a clear meaning.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Twitter Hack shows 71 % reduction — scammer consolidated aggressively. Bitfinex only 11 % — peel-chain laundering avoids co-spending.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package layout and stack. Mention 41 unit tests.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case — why it stresses a different part of the pipeline. Validation plan: ROC/AUC + precision-recall. ~75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deliverables and target metrics. Emphasise validation is against real law-enforcement ground truth.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up. Mention pipeline is already functional with preliminary results. Thank audience, invite questions.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286000"/>
            <a:ext cx="713232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Proof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B0BEC5"/>
                </a:solidFill>
              </a:rPr>
              <a:t>Bitcoin Risk Quantification for KYT / AML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6583680" cy="182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Group 3  ·  Crypto Asset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Ottitsch Franz Stefan Jakob (12024717)  ·  Arora Aaradhaya (12534787)  ·  Slutu Serhii (12537831)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TU Wien Informatics  ·  2026S</a:t>
            </a:r>
          </a:p>
        </p:txBody>
      </p:sp>
      <p:pic>
        <p:nvPicPr>
          <p:cNvPr id="10" name="Picture 9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5623560"/>
            <a:ext cx="2743200" cy="46634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Why does Bitcoin risk quantification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2/11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157276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09728" cy="15727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1673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</a:rPr>
              <a:t>AML / KYT Regulations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00784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Cryptoasset service providers are legally required to screen incoming transactions under Anti-Money Laundering (AML) and Know-Your-Transaction (KYT) rules. Failure exposes them to heavy fines and license revocation.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11247120" cy="157276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07792"/>
            <a:ext cx="109728" cy="15727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3580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The Black-Box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19856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Industry tools (Chainalysis, Elliptic, Crystal) are closed-source, expensive SaaS platforms. A compliance analyst cannot audit why a particular address received its risk score — the scoring logic is completely opaque.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26864"/>
            <a:ext cx="11247120" cy="157276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26864"/>
            <a:ext cx="109728" cy="15727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Our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38928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Build an open-source, fully reproducible Bitcoin risk pipeline that is explainable. A compliance analyst should see whether risk comes from graph proximity, direct value exposure, or multi-hop taint propagation.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What are we trying to answer?  [Assignment Q1]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3/11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576072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15568"/>
            <a:ext cx="576072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50292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2984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Risk Quantification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755648"/>
            <a:ext cx="54315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How can we quantify the risk of an incoming Bitcoin transaction by its graph distance from known illicit activity — darknet markets, ransomware, hacks?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115568"/>
            <a:ext cx="576072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115568"/>
            <a:ext cx="5760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280160"/>
            <a:ext cx="50292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801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2984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Score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755648"/>
            <a:ext cx="54315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How do we combine graph distance, direct value exposure, and multi-hop haircut taint propagation into a single explainable 0–100 aggregate score?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76072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7607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22192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221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840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Entity Clustering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297680"/>
            <a:ext cx="54315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How much does grouping addresses into real-world entities change the risk landscape compared to raw address-level analysis?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657600"/>
            <a:ext cx="576072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657600"/>
            <a:ext cx="5760720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822192"/>
            <a:ext cx="50292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8221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840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297680"/>
            <a:ext cx="54315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Do our risk scores agree with real-world ground truth — OFAC sanctions lists and DOJ-documented criminal case addresses?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What data do we need and how do we get it?  [Assignment Q2]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4/11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15568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029200"/>
                <a:gridCol w="1234440"/>
                <a:gridCol w="2971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GraphSense TagPacks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~46 000 labelled BTC addresses: ransomware, darknet markets, scams, hacks, exchanges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Free / GitHub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Custom DOJ TagPacks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Hand-curated from DOJ complaints: Twitter Hack 2020, Colonial Pipeline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mempool.space 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Public blockchain explorer — tx neighbourhood crawl, all responses SQLite-cached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JSON 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Free / public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OFAC SDN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US Treasury sanctioned crypto addresses (81 BTC) — validation 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Free /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Ransomwhere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Crowdsourced ransomware payment addresses and family labels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Free / 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572000"/>
            <a:ext cx="11430000" cy="658368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7A1"/>
                </a:solidFill>
              </a:rPr>
              <a:t>Key principle: all sources are free, require no API keys, and API responses are permanently cached in SQLite — the entire pipeline is fully reproducible offline.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End-to-end: from raw labels to validated risk scores  [Assignment Q3]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5/11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pic>
        <p:nvPicPr>
          <p:cNvPr id="9" name="Picture 8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247120" cy="46634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Risk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Four complementary signals combined into one explainable score  [Assignment Q3 detail]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6/11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571500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15568"/>
            <a:ext cx="91440" cy="2377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0700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BFS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Shortest-path hops to nearest tainted predecessor (multi-source BFS).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87168"/>
            <a:ext cx="5349240" cy="182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9689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6471"/>
                </a:solidFill>
              </a:rPr>
              <a:t>↳  Proximity — fewer hops = higher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115568"/>
            <a:ext cx="571500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115568"/>
            <a:ext cx="91440" cy="2377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20700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Direct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6459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Fraction of 1-hop incoming value from tainted predecessors.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2487168"/>
            <a:ext cx="5349240" cy="182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59689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6471"/>
                </a:solidFill>
              </a:rPr>
              <a:t>↳  How much money comes directly from bad actors.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71500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91440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490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Haircut Taint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Multi-hop proportional taint via sparse-matrix Jacobi fixed-point iteration.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5349240" cy="182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3892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6471"/>
                </a:solidFill>
              </a:rPr>
              <a:t>↳  How taint dilutes as it flows through the graph.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3657600"/>
            <a:ext cx="571500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3657600"/>
            <a:ext cx="91440" cy="2377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7490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</a:rPr>
              <a:t>Aggregate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18795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Weighted blend: 0.3 × Distance + 0.3 × Exposure + 0.4 × Haircut, rescaled 0–100.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5029200"/>
            <a:ext cx="5349240" cy="182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138928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6471"/>
                </a:solidFill>
              </a:rPr>
              <a:t>↳  Single actionable score for compliance screening and prioritised review.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Entity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Grouping addresses into real-world actors  [Assignment Q3 detail]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7/11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64008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Two Standard Bitcoin Forensics Heuristics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6035040" cy="175564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81328"/>
            <a:ext cx="91440" cy="17556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H1 — Common-Input-Ownership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116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All input addresses in the same Bitcoin transaction belong to the same wallet. Spending from multiple UTXOs requires holding all private keys.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6035040" cy="175564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91440" cy="17556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93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H2 — Change-Address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13632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A single-use output appearing for the first time is likely the change address returned to the sender. We group it with the spending input cluster.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115568"/>
            <a:ext cx="64008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Observed Node Reduction (4 case studies)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675120" y="1481328"/>
          <a:ext cx="5166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143000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Addresses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Entities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426,535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336,715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21 %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7,941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2,311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71 %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Colonial Pipeline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6,585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4,229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36 %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Bitfinex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11 %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675120" y="3931920"/>
            <a:ext cx="5166360" cy="621792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977639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</a:rPr>
              <a:t>Implementation: Union-Find (disjoint-set) data structure — O(n·α(n)) amortised; scales to 400 000+ addresses.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Architecture, stack, and deliverables  [Assignment Q4]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8/11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5394960" cy="461772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pof/  Python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tagpacks.py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554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load &amp; validate YAML TagPacks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explorer.py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8470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mempool.space REST client (cached)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39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graph.py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139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build weighted directed tx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clustering.py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Union-Find entity grouping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24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metrics/distance.py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24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multi-source BFS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metrics/direct_exposure.py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1-hop taint fraction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10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metrics/haircut.py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3101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sparse Jacobi propagation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02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metrics/aggregate.py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6027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0-100 weighted blend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95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validation.py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ROC/AUC vs OFAC ground truth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879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dashboard.py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187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Streamlit investigation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precompute.py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480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—  CLI: load → crawl → cluster →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115568"/>
            <a:ext cx="64008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Tech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146304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•  Python 3.10+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174650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•  NumPy / SciPy  (sparse matrices for Jacobi iteration)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02996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•  NetworkX  (graph construction &amp; BFS)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31343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•  Streamlit  (interactive investigation dashboard)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259689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•  pytest  (41 unit tests on hand-built fixtures)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944368"/>
            <a:ext cx="64008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944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Deliverables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329184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✓  3 Jupyter notebooks: methodology, case studies,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57530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✓  Interactive Streamlit dashboard (4 tabs)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385876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✓  Per-address risk score table (Parquet)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14223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✓  LaTeX report with 7 publication-quality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42569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✓  CLI:  python -m pof.precompute --seeds seeds.txt --hops 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Forensic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Four real criminal cases — validated against DOJ filings  [Assignment Q4 detail]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9/11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15568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566928"/>
                <a:gridCol w="3657600"/>
                <a:gridCol w="1508760"/>
                <a:gridCol w="4005072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BTC Involved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Global ransomware — 200 000+ victims in 150 countries, ~$140 K collected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3 hardcoded addresses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Isolated wallets — perfect baseline for scoring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130 VIP accounts hijacked; BTC doubling scam — ~$117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3 scam wallets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Aggressive consolidation — stresses entity 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Colonial Pipeline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DarkSide ransomware shut US fuel pipeline for 6 days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75 BTC (~$4.4 M)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Affiliate model — tests label coverage limits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47A1"/>
                          </a:solidFill>
                        </a:defRPr>
                      </a:pPr>
                      <a:r>
                        <a:t>Bitfinex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119 756 BTC stolen; largest DOJ crypto seizure ($3.6 B in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119 756 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51A"/>
                          </a:solidFill>
                        </a:defRPr>
                      </a:pPr>
                      <a:r>
                        <a:t>Peel-chain laundering — stresses haircut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3913632"/>
            <a:ext cx="64008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136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Validation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51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▸  ROC / AUC — treat aggregate score as binary classifier; positives = OFAC-listed or TagPack-labelled addresses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537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▸  Precision / Recall @ threshold 50 — operational metric for compliance analyst triage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554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51A"/>
                </a:solidFill>
              </a:rPr>
              <a:t>▸  Address-level vs. entity-level comparison — quantify how clustering shifts the risk distribution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109728"/>
            <a:ext cx="224028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91440"/>
            <a:ext cx="9265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26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What will the project produce?  [Assignment Q5]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6492240" cy="1627632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15568"/>
            <a:ext cx="91440" cy="16276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0700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Reproducible Risk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09344"/>
            <a:ext cx="6126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A Python package that takes any Bitcoin address, crawls its transaction neighbourhood, clusters entities, and outputs a per-address / per-entity risk score table — fully reproducible from raw YAML, no paid services.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52928"/>
            <a:ext cx="6492240" cy="1627632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52928"/>
            <a:ext cx="91440" cy="16276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4436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Explainable Risk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346704"/>
            <a:ext cx="6126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Every score decomposes into distance, direct exposure, and haircut taint. A compliance analyst can audit exactly why an address received its score and which component drives the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90288"/>
            <a:ext cx="6492240" cy="1627632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590288"/>
            <a:ext cx="9144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68172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Real-World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084064"/>
            <a:ext cx="6126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51A"/>
                </a:solidFill>
              </a:rPr>
              <a:t>Scores are evaluated via ROC/AUC against OFAC sanctions and four DOJ-documented criminal case addresses — actual law-enforcement outcomes, not synthetic or simulated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115568"/>
            <a:ext cx="64008" cy="2560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Target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481328"/>
            <a:ext cx="466344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5270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</a:rPr>
              <a:t>400 000+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5270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51A"/>
                </a:solidFill>
              </a:rPr>
              <a:t>Addresses scored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84708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6471"/>
                </a:solidFill>
              </a:rPr>
              <a:t>across 4 case studies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331720"/>
            <a:ext cx="466344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</a:rPr>
              <a:t>11–71 %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377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51A"/>
                </a:solidFill>
              </a:rPr>
              <a:t>Node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97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6471"/>
                </a:solidFill>
              </a:rPr>
              <a:t>via entity clustering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182112"/>
            <a:ext cx="466344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2278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</a:rPr>
              <a:t>&gt;= 0.90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2278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51A"/>
                </a:solidFill>
              </a:rPr>
              <a:t>Validation 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478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6471"/>
                </a:solidFill>
              </a:rPr>
              <a:t>against OFAC / TagPack labels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032504"/>
            <a:ext cx="466344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407822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</a:rPr>
              <a:t>41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0782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51A"/>
                </a:solidFill>
              </a:rPr>
              <a:t>Unit test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39826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6471"/>
                </a:solidFill>
              </a:rPr>
              <a:t>hand-built fixtures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882896"/>
            <a:ext cx="466344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492861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</a:rPr>
              <a:t>7 plots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51A"/>
                </a:solidFill>
              </a:rPr>
              <a:t>Report figures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24865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6471"/>
                </a:solidFill>
              </a:rPr>
              <a:t>pipeline, ROC, taint decay…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Timeline, Team &amp; 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7498079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09728"/>
            <a:ext cx="2743200" cy="4663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51560"/>
            <a:ext cx="2670048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88136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Wk 1–2  —  Data &amp; Crawler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27048"/>
            <a:ext cx="2670048" cy="804672"/>
          </a:xfrm>
          <a:prstGeom prst="rect">
            <a:avLst/>
          </a:prstGeom>
          <a:solidFill>
            <a:srgbClr val="123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24871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Load TagPacks
BFS crawl + SQLite 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051560"/>
            <a:ext cx="2670048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088136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Wk 3–4  —  Metrics &amp; Cluster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527048"/>
            <a:ext cx="2670048" cy="804672"/>
          </a:xfrm>
          <a:prstGeom prst="rect">
            <a:avLst/>
          </a:prstGeom>
          <a:solidFill>
            <a:srgbClr val="123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581912"/>
            <a:ext cx="24871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4 risk metrics
Union-Find clustering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051560"/>
            <a:ext cx="2670048" cy="47548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088136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Wk 5–6  —  Case Studies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527048"/>
            <a:ext cx="2670048" cy="804672"/>
          </a:xfrm>
          <a:prstGeom prst="rect">
            <a:avLst/>
          </a:prstGeom>
          <a:solidFill>
            <a:srgbClr val="123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581912"/>
            <a:ext cx="24871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4 DOJ cases
Validation vs. OFAC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051560"/>
            <a:ext cx="267004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088136"/>
            <a:ext cx="2670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Wk 7–8  —  Dashboard &amp;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1527048"/>
            <a:ext cx="2670048" cy="804672"/>
          </a:xfrm>
          <a:prstGeom prst="rect">
            <a:avLst/>
          </a:prstGeom>
          <a:solidFill>
            <a:srgbClr val="123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581912"/>
            <a:ext cx="24871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Streamlit UI
Notebooks + LaTeX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48840"/>
            <a:ext cx="64008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148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87168"/>
            <a:ext cx="3566160" cy="713232"/>
          </a:xfrm>
          <a:prstGeom prst="rect">
            <a:avLst/>
          </a:prstGeom>
          <a:solidFill>
            <a:srgbClr val="0D2B5E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42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Ottitsch Franz Stefan Jakob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816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12024717  ·  Crawler / 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2487168"/>
            <a:ext cx="3566160" cy="713232"/>
          </a:xfrm>
          <a:prstGeom prst="rect">
            <a:avLst/>
          </a:prstGeom>
          <a:solidFill>
            <a:srgbClr val="0D2B5E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542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Arora Aaradhaya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816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12534787  ·  Metrics /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1856" y="2487168"/>
            <a:ext cx="3566160" cy="713232"/>
          </a:xfrm>
          <a:prstGeom prst="rect">
            <a:avLst/>
          </a:prstGeom>
          <a:solidFill>
            <a:srgbClr val="0D2B5E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6" y="2542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Slutu Serhii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816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12537831  ·  Clustering /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01568"/>
            <a:ext cx="1124712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478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Thank you for your attention!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6052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EC5"/>
                </a:solidFill>
              </a:rPr>
              <a:t>Questions?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3520440"/>
            <a:ext cx="3063240" cy="1417320"/>
          </a:xfrm>
          <a:prstGeom prst="rect">
            <a:avLst/>
          </a:prstGeom>
          <a:solidFill>
            <a:srgbClr val="0D2B5E"/>
          </a:solidFill>
          <a:ln w="9525">
            <a:solidFill>
              <a:srgbClr val="1E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Repo &amp; Notebooks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90448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crypto-demo / pof/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1788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5D6A7"/>
                </a:solidFill>
              </a:rPr>
              <a:t>python -m pof.precompute
--seeds data/seeds.txt --hops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Crypto Asset Analytics  ·  TU Wien Informatics  ·  2026S   |   11/11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4095" y="6537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5"/>
                </a:solidFill>
              </a:rPr>
              <a:t>Proof of Funds — Bitcoin KYT/AML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